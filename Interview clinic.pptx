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notesSlides/notesSlide4.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5.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6.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7.xml" ContentType="application/vnd.openxmlformats-officedocument.presentationml.notesSlide+xml"/>
  <Override PartName="/ppt/tags/tag16.xml" ContentType="application/vnd.openxmlformats-officedocument.presentationml.tags+xml"/>
  <Override PartName="/ppt/notesSlides/notesSlide8.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9.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10.xml" ContentType="application/vnd.openxmlformats-officedocument.presentationml.notesSlide+xml"/>
  <Override PartName="/ppt/tags/tag22.xml" ContentType="application/vnd.openxmlformats-officedocument.presentationml.tags+xml"/>
  <Override PartName="/ppt/notesSlides/notesSlide11.xml" ContentType="application/vnd.openxmlformats-officedocument.presentationml.notesSlide+xml"/>
  <Override PartName="/ppt/tags/tag23.xml" ContentType="application/vnd.openxmlformats-officedocument.presentationml.tags+xml"/>
  <Override PartName="/ppt/notesSlides/notesSlide12.xml" ContentType="application/vnd.openxmlformats-officedocument.presentationml.notesSlide+xml"/>
  <Override PartName="/ppt/tags/tag24.xml" ContentType="application/vnd.openxmlformats-officedocument.presentationml.tags+xml"/>
  <Override PartName="/ppt/notesSlides/notesSlide13.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notesSlides/notesSlide14.xml" ContentType="application/vnd.openxmlformats-officedocument.presentationml.notesSlide+xml"/>
  <Override PartName="/ppt/tags/tag2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37"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custDataLst>
    <p:tags r:id="rId2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2" autoAdjust="0"/>
    <p:restoredTop sz="90293" autoAdjust="0"/>
  </p:normalViewPr>
  <p:slideViewPr>
    <p:cSldViewPr snapToGrid="0">
      <p:cViewPr varScale="1">
        <p:scale>
          <a:sx n="57" d="100"/>
          <a:sy n="57" d="100"/>
        </p:scale>
        <p:origin x="112"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36A85-AAE3-4722-BB96-E30674B09896}" type="datetimeFigureOut">
              <a:rPr lang="en-IN" smtClean="0"/>
              <a:t>29-05-2025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B4A68D-632E-41A5-A18D-87FAB9299631}" type="slidenum">
              <a:rPr lang="en-IN" smtClean="0"/>
              <a:t>‹#›</a:t>
            </a:fld>
            <a:endParaRPr lang="en-IN"/>
          </a:p>
        </p:txBody>
      </p:sp>
    </p:spTree>
    <p:extLst>
      <p:ext uri="{BB962C8B-B14F-4D97-AF65-F5344CB8AC3E}">
        <p14:creationId xmlns:p14="http://schemas.microsoft.com/office/powerpoint/2010/main" val="1558737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WIIFM</a:t>
            </a:r>
          </a:p>
          <a:p>
            <a:r>
              <a:rPr lang="en-US" dirty="0"/>
              <a:t>Self-boost</a:t>
            </a:r>
            <a:r>
              <a:rPr lang="en-US" baseline="0" dirty="0"/>
              <a:t> confidence for the interview</a:t>
            </a:r>
          </a:p>
          <a:p>
            <a:r>
              <a:rPr lang="en-US" baseline="0" dirty="0"/>
              <a:t>Academy- You get a job</a:t>
            </a:r>
          </a:p>
          <a:p>
            <a:r>
              <a:rPr lang="en-US" baseline="0" dirty="0"/>
              <a:t>Family- Less worried</a:t>
            </a:r>
            <a:endParaRPr lang="en-IN" dirty="0"/>
          </a:p>
        </p:txBody>
      </p:sp>
      <p:sp>
        <p:nvSpPr>
          <p:cNvPr id="4" name="Slide Number Placeholder 3"/>
          <p:cNvSpPr>
            <a:spLocks noGrp="1"/>
          </p:cNvSpPr>
          <p:nvPr>
            <p:ph type="sldNum" sz="quarter" idx="10"/>
          </p:nvPr>
        </p:nvSpPr>
        <p:spPr/>
        <p:txBody>
          <a:bodyPr/>
          <a:lstStyle/>
          <a:p>
            <a:fld id="{47B4A68D-632E-41A5-A18D-87FAB9299631}" type="slidenum">
              <a:rPr lang="en-IN" smtClean="0"/>
              <a:t>3</a:t>
            </a:fld>
            <a:endParaRPr lang="en-IN"/>
          </a:p>
        </p:txBody>
      </p:sp>
    </p:spTree>
    <p:extLst>
      <p:ext uri="{BB962C8B-B14F-4D97-AF65-F5344CB8AC3E}">
        <p14:creationId xmlns:p14="http://schemas.microsoft.com/office/powerpoint/2010/main" val="6703891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of these will be applicable if they are going for valiant interviews. Do let them know that it shall soon happen in a few months after joining – </a:t>
            </a:r>
          </a:p>
          <a:p>
            <a:endParaRPr lang="en-US" dirty="0"/>
          </a:p>
          <a:p>
            <a:r>
              <a:rPr lang="en-US" dirty="0"/>
              <a:t>Adding few more question that might be useful. Ask them to list</a:t>
            </a:r>
            <a:r>
              <a:rPr lang="en-US" baseline="0" dirty="0"/>
              <a:t> down their domain and any information they may have of the domain or client they are allocated to( if they are allocated already)</a:t>
            </a:r>
          </a:p>
          <a:p>
            <a:endParaRPr lang="en-US" baseline="0" dirty="0"/>
          </a:p>
          <a:p>
            <a:pPr marL="228600" indent="-228600">
              <a:buAutoNum type="arabicPeriod"/>
            </a:pPr>
            <a:r>
              <a:rPr lang="en-US" baseline="0" dirty="0"/>
              <a:t>What is their primary service or product?</a:t>
            </a:r>
          </a:p>
          <a:p>
            <a:pPr marL="228600" indent="-228600">
              <a:buAutoNum type="arabicPeriod"/>
            </a:pPr>
            <a:r>
              <a:rPr lang="en-US" baseline="0" dirty="0"/>
              <a:t>What is their business goal?</a:t>
            </a:r>
          </a:p>
          <a:p>
            <a:pPr marL="228600" indent="-228600">
              <a:buAutoNum type="arabicPeriod"/>
            </a:pPr>
            <a:r>
              <a:rPr lang="en-US" baseline="0" dirty="0"/>
              <a:t>Who is their client or customer?</a:t>
            </a:r>
          </a:p>
          <a:p>
            <a:pPr marL="228600" indent="-228600">
              <a:buAutoNum type="arabicPeriod"/>
            </a:pPr>
            <a:r>
              <a:rPr lang="en-US" baseline="0" dirty="0"/>
              <a:t>Who are their competitors?</a:t>
            </a:r>
          </a:p>
          <a:p>
            <a:pPr marL="228600" indent="-228600">
              <a:buAutoNum type="arabicPeriod"/>
            </a:pPr>
            <a:r>
              <a:rPr lang="en-US" baseline="0" dirty="0"/>
              <a:t>What projects has Cognizant carried out for them?</a:t>
            </a:r>
          </a:p>
          <a:p>
            <a:pPr marL="228600" indent="-228600">
              <a:buAutoNum type="arabicPeriod"/>
            </a:pPr>
            <a:r>
              <a:rPr lang="en-US" baseline="0" dirty="0"/>
              <a:t>What is current project about?</a:t>
            </a:r>
          </a:p>
          <a:p>
            <a:pPr marL="228600" indent="-228600">
              <a:buAutoNum type="arabicPeriod"/>
            </a:pPr>
            <a:r>
              <a:rPr lang="en-US" baseline="0" dirty="0"/>
              <a:t>What technologies are likely to be used in the project?</a:t>
            </a:r>
          </a:p>
          <a:p>
            <a:pPr marL="228600" indent="-228600">
              <a:buAutoNum type="arabicPeriod"/>
            </a:pPr>
            <a:r>
              <a:rPr lang="en-US" baseline="0" dirty="0"/>
              <a:t>How does your role contribute to the project success?</a:t>
            </a:r>
          </a:p>
          <a:p>
            <a:pPr marL="228600" indent="-228600">
              <a:buAutoNum type="arabicPeriod"/>
            </a:pPr>
            <a:r>
              <a:rPr lang="en-US" baseline="0" dirty="0"/>
              <a:t>What professional capabilities do they value?</a:t>
            </a:r>
          </a:p>
          <a:p>
            <a:pPr marL="228600" indent="-228600">
              <a:buAutoNum type="arabicPeriod"/>
            </a:pPr>
            <a:r>
              <a:rPr lang="en-US" baseline="0" dirty="0"/>
              <a:t>What are project practices of the client?</a:t>
            </a:r>
          </a:p>
          <a:p>
            <a:pPr marL="228600" indent="-228600">
              <a:buAutoNum type="arabicPeriod"/>
            </a:pPr>
            <a:r>
              <a:rPr lang="en-US" baseline="0" dirty="0" err="1"/>
              <a:t>Whaqt</a:t>
            </a:r>
            <a:r>
              <a:rPr lang="en-US" baseline="0" dirty="0"/>
              <a:t> are their cultural/work values?</a:t>
            </a:r>
          </a:p>
          <a:p>
            <a:pPr marL="228600" indent="-228600">
              <a:buAutoNum type="arabicPeriod"/>
            </a:pPr>
            <a:r>
              <a:rPr lang="en-US" baseline="0" dirty="0"/>
              <a:t>What is the mission and vision of the company?</a:t>
            </a:r>
          </a:p>
          <a:p>
            <a:pPr marL="228600" indent="-228600">
              <a:buAutoNum type="arabicPeriod"/>
            </a:pPr>
            <a:endParaRPr lang="en-US" baseline="0" dirty="0"/>
          </a:p>
        </p:txBody>
      </p:sp>
      <p:sp>
        <p:nvSpPr>
          <p:cNvPr id="4" name="Slide Number Placeholder 3"/>
          <p:cNvSpPr>
            <a:spLocks noGrp="1"/>
          </p:cNvSpPr>
          <p:nvPr>
            <p:ph type="sldNum" sz="quarter" idx="10"/>
          </p:nvPr>
        </p:nvSpPr>
        <p:spPr/>
        <p:txBody>
          <a:bodyPr/>
          <a:lstStyle/>
          <a:p>
            <a:fld id="{47B4A68D-632E-41A5-A18D-87FAB9299631}" type="slidenum">
              <a:rPr lang="en-IN" smtClean="0"/>
              <a:t>6</a:t>
            </a:fld>
            <a:endParaRPr lang="en-IN"/>
          </a:p>
        </p:txBody>
      </p:sp>
    </p:spTree>
    <p:extLst>
      <p:ext uri="{BB962C8B-B14F-4D97-AF65-F5344CB8AC3E}">
        <p14:creationId xmlns:p14="http://schemas.microsoft.com/office/powerpoint/2010/main" val="1275388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7B4A68D-632E-41A5-A18D-87FAB9299631}" type="slidenum">
              <a:rPr lang="en-IN" smtClean="0"/>
              <a:t>7</a:t>
            </a:fld>
            <a:endParaRPr lang="en-IN"/>
          </a:p>
        </p:txBody>
      </p:sp>
    </p:spTree>
    <p:extLst>
      <p:ext uri="{BB962C8B-B14F-4D97-AF65-F5344CB8AC3E}">
        <p14:creationId xmlns:p14="http://schemas.microsoft.com/office/powerpoint/2010/main" val="38578705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them to list down the attributes in a group-5 min activity</a:t>
            </a:r>
            <a:endParaRPr lang="en-IN" dirty="0"/>
          </a:p>
        </p:txBody>
      </p:sp>
      <p:sp>
        <p:nvSpPr>
          <p:cNvPr id="4" name="Slide Number Placeholder 3"/>
          <p:cNvSpPr>
            <a:spLocks noGrp="1"/>
          </p:cNvSpPr>
          <p:nvPr>
            <p:ph type="sldNum" sz="quarter" idx="10"/>
          </p:nvPr>
        </p:nvSpPr>
        <p:spPr/>
        <p:txBody>
          <a:bodyPr/>
          <a:lstStyle/>
          <a:p>
            <a:fld id="{47B4A68D-632E-41A5-A18D-87FAB9299631}" type="slidenum">
              <a:rPr lang="en-IN" smtClean="0"/>
              <a:t>8</a:t>
            </a:fld>
            <a:endParaRPr lang="en-IN"/>
          </a:p>
        </p:txBody>
      </p:sp>
    </p:spTree>
    <p:extLst>
      <p:ext uri="{BB962C8B-B14F-4D97-AF65-F5344CB8AC3E}">
        <p14:creationId xmlns:p14="http://schemas.microsoft.com/office/powerpoint/2010/main" val="17063567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 your skills , abilities, work experience and extracurricular activities on paper.</a:t>
            </a:r>
          </a:p>
          <a:p>
            <a:endParaRPr lang="en-US" dirty="0"/>
          </a:p>
          <a:p>
            <a:r>
              <a:rPr lang="en-US" dirty="0"/>
              <a:t>Add your contact information ,</a:t>
            </a:r>
            <a:r>
              <a:rPr lang="en-US" baseline="0" dirty="0"/>
              <a:t> and contact numbers, link to work Social profiles.</a:t>
            </a:r>
            <a:endParaRPr lang="en-IN" dirty="0"/>
          </a:p>
        </p:txBody>
      </p:sp>
      <p:sp>
        <p:nvSpPr>
          <p:cNvPr id="4" name="Slide Number Placeholder 3"/>
          <p:cNvSpPr>
            <a:spLocks noGrp="1"/>
          </p:cNvSpPr>
          <p:nvPr>
            <p:ph type="sldNum" sz="quarter" idx="10"/>
          </p:nvPr>
        </p:nvSpPr>
        <p:spPr/>
        <p:txBody>
          <a:bodyPr/>
          <a:lstStyle/>
          <a:p>
            <a:fld id="{47B4A68D-632E-41A5-A18D-87FAB9299631}" type="slidenum">
              <a:rPr lang="en-IN" smtClean="0"/>
              <a:t>10</a:t>
            </a:fld>
            <a:endParaRPr lang="en-IN"/>
          </a:p>
        </p:txBody>
      </p:sp>
    </p:spTree>
    <p:extLst>
      <p:ext uri="{BB962C8B-B14F-4D97-AF65-F5344CB8AC3E}">
        <p14:creationId xmlns:p14="http://schemas.microsoft.com/office/powerpoint/2010/main" val="1339724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new hires</a:t>
            </a:r>
          </a:p>
          <a:p>
            <a:r>
              <a:rPr lang="en-US" dirty="0"/>
              <a:t>They can highlight their learning and accomplishments</a:t>
            </a:r>
            <a:r>
              <a:rPr lang="en-US" baseline="0" dirty="0"/>
              <a:t> at Academy.</a:t>
            </a:r>
          </a:p>
          <a:p>
            <a:endParaRPr lang="en-US" baseline="0" dirty="0"/>
          </a:p>
          <a:p>
            <a:r>
              <a:rPr lang="en-US" baseline="0" dirty="0"/>
              <a:t>You delivered on-time and on budget</a:t>
            </a:r>
          </a:p>
          <a:p>
            <a:r>
              <a:rPr lang="en-US" baseline="0" dirty="0"/>
              <a:t>Defined a problem, developed and delivered the solution.</a:t>
            </a:r>
          </a:p>
          <a:p>
            <a:r>
              <a:rPr lang="en-US" baseline="0" dirty="0"/>
              <a:t>Managed through difficulties and deadline and deliver a quality result</a:t>
            </a:r>
          </a:p>
          <a:p>
            <a:r>
              <a:rPr lang="en-US" baseline="0" dirty="0"/>
              <a:t>Worked with different teams as well as an individual contributor</a:t>
            </a:r>
          </a:p>
          <a:p>
            <a:r>
              <a:rPr lang="en-US" baseline="0" dirty="0"/>
              <a:t>You carried out multiple responsibilities</a:t>
            </a:r>
          </a:p>
          <a:p>
            <a:r>
              <a:rPr lang="en-US" baseline="0" dirty="0"/>
              <a:t>Do not give any indication of self-doubt</a:t>
            </a:r>
          </a:p>
          <a:p>
            <a:r>
              <a:rPr lang="en-US" baseline="0" dirty="0"/>
              <a:t>Present information that you can defend</a:t>
            </a:r>
            <a:endParaRPr lang="en-IN" dirty="0"/>
          </a:p>
        </p:txBody>
      </p:sp>
      <p:sp>
        <p:nvSpPr>
          <p:cNvPr id="4" name="Slide Number Placeholder 3"/>
          <p:cNvSpPr>
            <a:spLocks noGrp="1"/>
          </p:cNvSpPr>
          <p:nvPr>
            <p:ph type="sldNum" sz="quarter" idx="10"/>
          </p:nvPr>
        </p:nvSpPr>
        <p:spPr/>
        <p:txBody>
          <a:bodyPr/>
          <a:lstStyle/>
          <a:p>
            <a:fld id="{47B4A68D-632E-41A5-A18D-87FAB9299631}" type="slidenum">
              <a:rPr lang="en-IN" smtClean="0"/>
              <a:t>12</a:t>
            </a:fld>
            <a:endParaRPr lang="en-IN"/>
          </a:p>
        </p:txBody>
      </p:sp>
    </p:spTree>
    <p:extLst>
      <p:ext uri="{BB962C8B-B14F-4D97-AF65-F5344CB8AC3E}">
        <p14:creationId xmlns:p14="http://schemas.microsoft.com/office/powerpoint/2010/main" val="2548438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generic introduction VS an introduction</a:t>
            </a:r>
            <a:r>
              <a:rPr lang="en-US" baseline="0" dirty="0"/>
              <a:t> for interview will vary .You need to sell yourself, be a brand</a:t>
            </a:r>
            <a:endParaRPr lang="en-IN" dirty="0"/>
          </a:p>
        </p:txBody>
      </p:sp>
      <p:sp>
        <p:nvSpPr>
          <p:cNvPr id="4" name="Slide Number Placeholder 3"/>
          <p:cNvSpPr>
            <a:spLocks noGrp="1"/>
          </p:cNvSpPr>
          <p:nvPr>
            <p:ph type="sldNum" sz="quarter" idx="10"/>
          </p:nvPr>
        </p:nvSpPr>
        <p:spPr/>
        <p:txBody>
          <a:bodyPr/>
          <a:lstStyle/>
          <a:p>
            <a:fld id="{47B4A68D-632E-41A5-A18D-87FAB9299631}" type="slidenum">
              <a:rPr lang="en-IN" smtClean="0"/>
              <a:t>14</a:t>
            </a:fld>
            <a:endParaRPr lang="en-IN"/>
          </a:p>
        </p:txBody>
      </p:sp>
    </p:spTree>
    <p:extLst>
      <p:ext uri="{BB962C8B-B14F-4D97-AF65-F5344CB8AC3E}">
        <p14:creationId xmlns:p14="http://schemas.microsoft.com/office/powerpoint/2010/main" val="12196805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your name</a:t>
            </a:r>
          </a:p>
          <a:p>
            <a:r>
              <a:rPr lang="en-US" dirty="0"/>
              <a:t>Say a bit</a:t>
            </a:r>
            <a:r>
              <a:rPr lang="en-US" baseline="0" dirty="0"/>
              <a:t> about your background , you’re learning at academy</a:t>
            </a:r>
          </a:p>
          <a:p>
            <a:r>
              <a:rPr lang="en-US" baseline="0" dirty="0"/>
              <a:t>Say about your previous projects at campus and what role you played and the learning from it</a:t>
            </a:r>
          </a:p>
          <a:p>
            <a:r>
              <a:rPr lang="en-US" baseline="0" dirty="0"/>
              <a:t>State what key attributes you possess and how that will benefit them</a:t>
            </a:r>
          </a:p>
          <a:p>
            <a:r>
              <a:rPr lang="en-US" baseline="0" dirty="0"/>
              <a:t>Say what your skills are and what you look forward to doing in your career</a:t>
            </a:r>
            <a:endParaRPr lang="en-IN" dirty="0"/>
          </a:p>
        </p:txBody>
      </p:sp>
      <p:sp>
        <p:nvSpPr>
          <p:cNvPr id="4" name="Slide Number Placeholder 3"/>
          <p:cNvSpPr>
            <a:spLocks noGrp="1"/>
          </p:cNvSpPr>
          <p:nvPr>
            <p:ph type="sldNum" sz="quarter" idx="10"/>
          </p:nvPr>
        </p:nvSpPr>
        <p:spPr/>
        <p:txBody>
          <a:bodyPr/>
          <a:lstStyle/>
          <a:p>
            <a:fld id="{47B4A68D-632E-41A5-A18D-87FAB9299631}" type="slidenum">
              <a:rPr lang="en-IN" smtClean="0"/>
              <a:t>15</a:t>
            </a:fld>
            <a:endParaRPr lang="en-IN"/>
          </a:p>
        </p:txBody>
      </p:sp>
    </p:spTree>
    <p:extLst>
      <p:ext uri="{BB962C8B-B14F-4D97-AF65-F5344CB8AC3E}">
        <p14:creationId xmlns:p14="http://schemas.microsoft.com/office/powerpoint/2010/main" val="21289856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in pairs,</a:t>
            </a:r>
            <a:r>
              <a:rPr lang="en-US" baseline="0" dirty="0"/>
              <a:t> do ask them to record their introduction on phone after the session</a:t>
            </a:r>
          </a:p>
          <a:p>
            <a:endParaRPr lang="en-US" baseline="0" dirty="0"/>
          </a:p>
          <a:p>
            <a:r>
              <a:rPr lang="en-US" sz="1200" b="1" i="0" kern="1200" dirty="0">
                <a:solidFill>
                  <a:schemeClr val="tx1"/>
                </a:solidFill>
                <a:effectLst/>
                <a:latin typeface="+mn-lt"/>
                <a:ea typeface="+mn-ea"/>
                <a:cs typeface="+mn-cs"/>
              </a:rPr>
              <a:t>Name and Education</a:t>
            </a:r>
            <a:r>
              <a:rPr lang="en-US" sz="1200" b="0" i="0" kern="1200" dirty="0">
                <a:solidFill>
                  <a:schemeClr val="tx1"/>
                </a:solidFill>
                <a:effectLst/>
                <a:latin typeface="+mn-lt"/>
                <a:ea typeface="+mn-ea"/>
                <a:cs typeface="+mn-cs"/>
              </a:rPr>
              <a:t>: Start by stating your name clearly and mention your current educational background, including your degree or any relevant courses you've pursued.</a:t>
            </a:r>
          </a:p>
          <a:p>
            <a:r>
              <a:rPr lang="en-US" sz="1200" b="1" i="0" kern="1200" dirty="0">
                <a:solidFill>
                  <a:schemeClr val="tx1"/>
                </a:solidFill>
                <a:effectLst/>
                <a:latin typeface="+mn-lt"/>
                <a:ea typeface="+mn-ea"/>
                <a:cs typeface="+mn-cs"/>
              </a:rPr>
              <a:t>Career Objective or Summary</a:t>
            </a:r>
            <a:r>
              <a:rPr lang="en-US" sz="1200" b="0" i="0" kern="1200" dirty="0">
                <a:solidFill>
                  <a:schemeClr val="tx1"/>
                </a:solidFill>
                <a:effectLst/>
                <a:latin typeface="+mn-lt"/>
                <a:ea typeface="+mn-ea"/>
                <a:cs typeface="+mn-cs"/>
              </a:rPr>
              <a:t>: Provide a brief overview of your career objective or a summary of your skills and aspirations. This helps the interviewer understand your goals and what you're looking to achieve.</a:t>
            </a:r>
          </a:p>
          <a:p>
            <a:r>
              <a:rPr lang="en-US" sz="1200" b="1" i="0" kern="1200" dirty="0">
                <a:solidFill>
                  <a:schemeClr val="tx1"/>
                </a:solidFill>
                <a:effectLst/>
                <a:latin typeface="+mn-lt"/>
                <a:ea typeface="+mn-ea"/>
                <a:cs typeface="+mn-cs"/>
              </a:rPr>
              <a:t>Key Strengths and Skills</a:t>
            </a:r>
            <a:r>
              <a:rPr lang="en-US" sz="1200" b="0" i="0" kern="1200" dirty="0">
                <a:solidFill>
                  <a:schemeClr val="tx1"/>
                </a:solidFill>
                <a:effectLst/>
                <a:latin typeface="+mn-lt"/>
                <a:ea typeface="+mn-ea"/>
                <a:cs typeface="+mn-cs"/>
              </a:rPr>
              <a:t>: Highlight your key strengths and skills that are relevant to the job you're applying for. These could include technical skills, soft skills, or any other competencies that make you suitable for the role.</a:t>
            </a:r>
          </a:p>
          <a:p>
            <a:r>
              <a:rPr lang="en-US" sz="1200" b="1" i="0" kern="1200" dirty="0">
                <a:solidFill>
                  <a:schemeClr val="tx1"/>
                </a:solidFill>
                <a:effectLst/>
                <a:latin typeface="+mn-lt"/>
                <a:ea typeface="+mn-ea"/>
                <a:cs typeface="+mn-cs"/>
              </a:rPr>
              <a:t>Relevant Experiences (if any)</a:t>
            </a:r>
            <a:r>
              <a:rPr lang="en-US" sz="1200" b="0" i="0" kern="1200" dirty="0">
                <a:solidFill>
                  <a:schemeClr val="tx1"/>
                </a:solidFill>
                <a:effectLst/>
                <a:latin typeface="+mn-lt"/>
                <a:ea typeface="+mn-ea"/>
                <a:cs typeface="+mn-cs"/>
              </a:rPr>
              <a:t>: If you have any relevant internship experiences, projects, or extracurricular activities, briefly mention them to demonstrate your practical knowledge and abilities.</a:t>
            </a:r>
          </a:p>
          <a:p>
            <a:r>
              <a:rPr lang="en-US" sz="1200" b="1" i="0" kern="1200" dirty="0">
                <a:solidFill>
                  <a:schemeClr val="tx1"/>
                </a:solidFill>
                <a:effectLst/>
                <a:latin typeface="+mn-lt"/>
                <a:ea typeface="+mn-ea"/>
                <a:cs typeface="+mn-cs"/>
              </a:rPr>
              <a:t>Passion and Enthusiasm</a:t>
            </a:r>
            <a:r>
              <a:rPr lang="en-US" sz="1200" b="0" i="0" kern="1200" dirty="0">
                <a:solidFill>
                  <a:schemeClr val="tx1"/>
                </a:solidFill>
                <a:effectLst/>
                <a:latin typeface="+mn-lt"/>
                <a:ea typeface="+mn-ea"/>
                <a:cs typeface="+mn-cs"/>
              </a:rPr>
              <a:t>: Express your passion and enthusiasm for the field or industry you're entering. Show your eagerness to learn and contribute to the organization.</a:t>
            </a:r>
          </a:p>
          <a:p>
            <a:r>
              <a:rPr lang="en-US" sz="1200" b="1" i="0" kern="1200" dirty="0">
                <a:solidFill>
                  <a:schemeClr val="tx1"/>
                </a:solidFill>
                <a:effectLst/>
                <a:latin typeface="+mn-lt"/>
                <a:ea typeface="+mn-ea"/>
                <a:cs typeface="+mn-cs"/>
              </a:rPr>
              <a:t>Personal Traits</a:t>
            </a:r>
            <a:r>
              <a:rPr lang="en-US" sz="1200" b="0" i="0" kern="1200" dirty="0">
                <a:solidFill>
                  <a:schemeClr val="tx1"/>
                </a:solidFill>
                <a:effectLst/>
                <a:latin typeface="+mn-lt"/>
                <a:ea typeface="+mn-ea"/>
                <a:cs typeface="+mn-cs"/>
              </a:rPr>
              <a:t>: Mention a few positive personal traits that describe you as a person, such as being a team player, a quick learner, or having strong problem-solving abilities.</a:t>
            </a:r>
          </a:p>
          <a:p>
            <a:r>
              <a:rPr lang="en-US" sz="1200" b="1" i="0" kern="1200" dirty="0">
                <a:solidFill>
                  <a:schemeClr val="tx1"/>
                </a:solidFill>
                <a:effectLst/>
                <a:latin typeface="+mn-lt"/>
                <a:ea typeface="+mn-ea"/>
                <a:cs typeface="+mn-cs"/>
              </a:rPr>
              <a:t>Interest in the Company</a:t>
            </a:r>
            <a:r>
              <a:rPr lang="en-US" sz="1200" b="0" i="0" kern="1200" dirty="0">
                <a:solidFill>
                  <a:schemeClr val="tx1"/>
                </a:solidFill>
                <a:effectLst/>
                <a:latin typeface="+mn-lt"/>
                <a:ea typeface="+mn-ea"/>
                <a:cs typeface="+mn-cs"/>
              </a:rPr>
              <a:t>: Demonstrate your interest in the company by mentioning why you're excited about the opportunity to work there. This could include aspects such as the company's values, products, or recent achievements.</a:t>
            </a:r>
          </a:p>
          <a:p>
            <a:r>
              <a:rPr lang="en-US" sz="1200" b="1" i="0" kern="1200" dirty="0">
                <a:solidFill>
                  <a:schemeClr val="tx1"/>
                </a:solidFill>
                <a:effectLst/>
                <a:latin typeface="+mn-lt"/>
                <a:ea typeface="+mn-ea"/>
                <a:cs typeface="+mn-cs"/>
              </a:rPr>
              <a:t>Closing Statement</a:t>
            </a:r>
            <a:r>
              <a:rPr lang="en-US" sz="1200" b="0" i="0" kern="1200" dirty="0">
                <a:solidFill>
                  <a:schemeClr val="tx1"/>
                </a:solidFill>
                <a:effectLst/>
                <a:latin typeface="+mn-lt"/>
                <a:ea typeface="+mn-ea"/>
                <a:cs typeface="+mn-cs"/>
              </a:rPr>
              <a:t>: Conclude your introduction with a strong closing statement, expressing your gratitude for the opportunity to interview and your readiness to answer any further questions they may have.</a:t>
            </a:r>
          </a:p>
          <a:p>
            <a:r>
              <a:rPr lang="en-US" sz="1200" b="0" i="0" kern="1200" dirty="0">
                <a:solidFill>
                  <a:schemeClr val="tx1"/>
                </a:solidFill>
                <a:effectLst/>
                <a:latin typeface="+mn-lt"/>
                <a:ea typeface="+mn-ea"/>
                <a:cs typeface="+mn-cs"/>
              </a:rPr>
              <a:t>Remember to keep your introduction concise and focused, aiming to provide a clear overview of who you are and why you're a suitable candidate for the position. Practice your introduction beforehand to ensure you deliver it confidently during the interview.</a:t>
            </a:r>
          </a:p>
          <a:p>
            <a:endParaRPr lang="en-IN" dirty="0"/>
          </a:p>
        </p:txBody>
      </p:sp>
      <p:sp>
        <p:nvSpPr>
          <p:cNvPr id="4" name="Slide Number Placeholder 3"/>
          <p:cNvSpPr>
            <a:spLocks noGrp="1"/>
          </p:cNvSpPr>
          <p:nvPr>
            <p:ph type="sldNum" sz="quarter" idx="10"/>
          </p:nvPr>
        </p:nvSpPr>
        <p:spPr/>
        <p:txBody>
          <a:bodyPr/>
          <a:lstStyle/>
          <a:p>
            <a:fld id="{47B4A68D-632E-41A5-A18D-87FAB9299631}" type="slidenum">
              <a:rPr lang="en-IN" smtClean="0"/>
              <a:t>18</a:t>
            </a:fld>
            <a:endParaRPr lang="en-IN"/>
          </a:p>
        </p:txBody>
      </p:sp>
    </p:spTree>
    <p:extLst>
      <p:ext uri="{BB962C8B-B14F-4D97-AF65-F5344CB8AC3E}">
        <p14:creationId xmlns:p14="http://schemas.microsoft.com/office/powerpoint/2010/main" val="23252794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associates to pair up and practice powerful introduction keeping in mind the right body </a:t>
            </a:r>
            <a:r>
              <a:rPr lang="en-US" dirty="0" err="1"/>
              <a:t>langusge</a:t>
            </a:r>
            <a:r>
              <a:rPr lang="en-US" dirty="0"/>
              <a:t> etc.</a:t>
            </a:r>
            <a:r>
              <a:rPr lang="en-US" baseline="0" dirty="0"/>
              <a:t> they can connect through video calls on their smart phone for this activity</a:t>
            </a:r>
          </a:p>
          <a:p>
            <a:endParaRPr lang="en-US" baseline="0" dirty="0"/>
          </a:p>
          <a:p>
            <a:endParaRPr lang="en-US" baseline="0" dirty="0"/>
          </a:p>
          <a:p>
            <a:r>
              <a:rPr lang="en-US" baseline="0" dirty="0"/>
              <a:t>Give them 15 min to finish for this activity</a:t>
            </a:r>
            <a:endParaRPr lang="en-IN" dirty="0"/>
          </a:p>
        </p:txBody>
      </p:sp>
      <p:sp>
        <p:nvSpPr>
          <p:cNvPr id="4" name="Slide Number Placeholder 3"/>
          <p:cNvSpPr>
            <a:spLocks noGrp="1"/>
          </p:cNvSpPr>
          <p:nvPr>
            <p:ph type="sldNum" sz="quarter" idx="10"/>
          </p:nvPr>
        </p:nvSpPr>
        <p:spPr/>
        <p:txBody>
          <a:bodyPr/>
          <a:lstStyle/>
          <a:p>
            <a:fld id="{47B4A68D-632E-41A5-A18D-87FAB9299631}" type="slidenum">
              <a:rPr lang="en-IN" smtClean="0"/>
              <a:t>20</a:t>
            </a:fld>
            <a:endParaRPr lang="en-IN"/>
          </a:p>
        </p:txBody>
      </p:sp>
    </p:spTree>
    <p:extLst>
      <p:ext uri="{BB962C8B-B14F-4D97-AF65-F5344CB8AC3E}">
        <p14:creationId xmlns:p14="http://schemas.microsoft.com/office/powerpoint/2010/main" val="11071392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7B4A68D-632E-41A5-A18D-87FAB9299631}" type="slidenum">
              <a:rPr lang="en-IN" smtClean="0"/>
              <a:t>21</a:t>
            </a:fld>
            <a:endParaRPr lang="en-IN"/>
          </a:p>
        </p:txBody>
      </p:sp>
    </p:spTree>
    <p:extLst>
      <p:ext uri="{BB962C8B-B14F-4D97-AF65-F5344CB8AC3E}">
        <p14:creationId xmlns:p14="http://schemas.microsoft.com/office/powerpoint/2010/main" val="22121040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What is the STAR method?</a:t>
            </a:r>
          </a:p>
          <a:p>
            <a:r>
              <a:rPr lang="en-US" sz="1200" b="0" i="0" kern="1200" dirty="0">
                <a:solidFill>
                  <a:schemeClr val="tx1"/>
                </a:solidFill>
                <a:effectLst/>
                <a:latin typeface="+mn-lt"/>
                <a:ea typeface="+mn-ea"/>
                <a:cs typeface="+mn-cs"/>
              </a:rPr>
              <a:t>The STAR method is an interview technique that gives you a straightforward format you can use to tell a story by laying out the situation, task, action, and result.</a:t>
            </a:r>
          </a:p>
          <a:p>
            <a:r>
              <a:rPr lang="en-US" sz="1200" b="1" i="0" kern="1200" dirty="0">
                <a:solidFill>
                  <a:schemeClr val="tx1"/>
                </a:solidFill>
                <a:effectLst/>
                <a:latin typeface="+mn-lt"/>
                <a:ea typeface="+mn-ea"/>
                <a:cs typeface="+mn-cs"/>
              </a:rPr>
              <a:t>Situation:</a:t>
            </a:r>
            <a:r>
              <a:rPr lang="en-US" sz="1200" b="0" i="0" kern="1200" dirty="0">
                <a:solidFill>
                  <a:schemeClr val="tx1"/>
                </a:solidFill>
                <a:effectLst/>
                <a:latin typeface="+mn-lt"/>
                <a:ea typeface="+mn-ea"/>
                <a:cs typeface="+mn-cs"/>
              </a:rPr>
              <a:t> Set the scene and give the necessary details of your example.</a:t>
            </a:r>
          </a:p>
          <a:p>
            <a:r>
              <a:rPr lang="en-US" sz="1200" b="1" i="0" kern="1200" dirty="0">
                <a:solidFill>
                  <a:schemeClr val="tx1"/>
                </a:solidFill>
                <a:effectLst/>
                <a:latin typeface="+mn-lt"/>
                <a:ea typeface="+mn-ea"/>
                <a:cs typeface="+mn-cs"/>
              </a:rPr>
              <a:t>Task: </a:t>
            </a:r>
            <a:r>
              <a:rPr lang="en-US" sz="1200" b="0" i="0" kern="1200" dirty="0">
                <a:solidFill>
                  <a:schemeClr val="tx1"/>
                </a:solidFill>
                <a:effectLst/>
                <a:latin typeface="+mn-lt"/>
                <a:ea typeface="+mn-ea"/>
                <a:cs typeface="+mn-cs"/>
              </a:rPr>
              <a:t>Describe what your responsibility was in that situation.</a:t>
            </a:r>
          </a:p>
          <a:p>
            <a:r>
              <a:rPr lang="en-US" sz="1200" b="1" i="0" kern="1200" dirty="0">
                <a:solidFill>
                  <a:schemeClr val="tx1"/>
                </a:solidFill>
                <a:effectLst/>
                <a:latin typeface="+mn-lt"/>
                <a:ea typeface="+mn-ea"/>
                <a:cs typeface="+mn-cs"/>
              </a:rPr>
              <a:t>Action: </a:t>
            </a:r>
            <a:r>
              <a:rPr lang="en-US" sz="1200" b="0" i="0" kern="1200" dirty="0">
                <a:solidFill>
                  <a:schemeClr val="tx1"/>
                </a:solidFill>
                <a:effectLst/>
                <a:latin typeface="+mn-lt"/>
                <a:ea typeface="+mn-ea"/>
                <a:cs typeface="+mn-cs"/>
              </a:rPr>
              <a:t>Explain exactly what steps you took to address it.</a:t>
            </a:r>
          </a:p>
          <a:p>
            <a:r>
              <a:rPr lang="en-US" sz="1200" b="1" i="0" kern="1200" dirty="0">
                <a:solidFill>
                  <a:schemeClr val="tx1"/>
                </a:solidFill>
                <a:effectLst/>
                <a:latin typeface="+mn-lt"/>
                <a:ea typeface="+mn-ea"/>
                <a:cs typeface="+mn-cs"/>
              </a:rPr>
              <a:t>Result:</a:t>
            </a:r>
            <a:r>
              <a:rPr lang="en-US" sz="1200" b="0" i="0" kern="1200" dirty="0">
                <a:solidFill>
                  <a:schemeClr val="tx1"/>
                </a:solidFill>
                <a:effectLst/>
                <a:latin typeface="+mn-lt"/>
                <a:ea typeface="+mn-ea"/>
                <a:cs typeface="+mn-cs"/>
              </a:rPr>
              <a:t> Share what outcomes your actions achieved.</a:t>
            </a:r>
          </a:p>
          <a:p>
            <a:endParaRPr lang="en-IN" dirty="0"/>
          </a:p>
        </p:txBody>
      </p:sp>
      <p:sp>
        <p:nvSpPr>
          <p:cNvPr id="4" name="Slide Number Placeholder 3"/>
          <p:cNvSpPr>
            <a:spLocks noGrp="1"/>
          </p:cNvSpPr>
          <p:nvPr>
            <p:ph type="sldNum" sz="quarter" idx="10"/>
          </p:nvPr>
        </p:nvSpPr>
        <p:spPr/>
        <p:txBody>
          <a:bodyPr/>
          <a:lstStyle/>
          <a:p>
            <a:fld id="{47B4A68D-632E-41A5-A18D-87FAB9299631}" type="slidenum">
              <a:rPr lang="en-IN" smtClean="0"/>
              <a:t>22</a:t>
            </a:fld>
            <a:endParaRPr lang="en-IN"/>
          </a:p>
        </p:txBody>
      </p:sp>
    </p:spTree>
    <p:extLst>
      <p:ext uri="{BB962C8B-B14F-4D97-AF65-F5344CB8AC3E}">
        <p14:creationId xmlns:p14="http://schemas.microsoft.com/office/powerpoint/2010/main" val="40134180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a:t>
            </a:r>
            <a:r>
              <a:rPr lang="en-US" baseline="0" dirty="0"/>
              <a:t> the participants to work in pairs and practice</a:t>
            </a:r>
            <a:endParaRPr lang="en-IN" dirty="0"/>
          </a:p>
        </p:txBody>
      </p:sp>
      <p:sp>
        <p:nvSpPr>
          <p:cNvPr id="4" name="Slide Number Placeholder 3"/>
          <p:cNvSpPr>
            <a:spLocks noGrp="1"/>
          </p:cNvSpPr>
          <p:nvPr>
            <p:ph type="sldNum" sz="quarter" idx="10"/>
          </p:nvPr>
        </p:nvSpPr>
        <p:spPr/>
        <p:txBody>
          <a:bodyPr/>
          <a:lstStyle/>
          <a:p>
            <a:fld id="{47B4A68D-632E-41A5-A18D-87FAB9299631}" type="slidenum">
              <a:rPr lang="en-IN" smtClean="0"/>
              <a:t>23</a:t>
            </a:fld>
            <a:endParaRPr lang="en-IN"/>
          </a:p>
        </p:txBody>
      </p:sp>
    </p:spTree>
    <p:extLst>
      <p:ext uri="{BB962C8B-B14F-4D97-AF65-F5344CB8AC3E}">
        <p14:creationId xmlns:p14="http://schemas.microsoft.com/office/powerpoint/2010/main" val="29134219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a:t>
            </a:r>
            <a:endParaRPr lang="en-IN" dirty="0"/>
          </a:p>
        </p:txBody>
      </p:sp>
      <p:sp>
        <p:nvSpPr>
          <p:cNvPr id="4" name="Slide Number Placeholder 3"/>
          <p:cNvSpPr>
            <a:spLocks noGrp="1"/>
          </p:cNvSpPr>
          <p:nvPr>
            <p:ph type="sldNum" sz="quarter" idx="10"/>
          </p:nvPr>
        </p:nvSpPr>
        <p:spPr/>
        <p:txBody>
          <a:bodyPr/>
          <a:lstStyle/>
          <a:p>
            <a:fld id="{47B4A68D-632E-41A5-A18D-87FAB9299631}" type="slidenum">
              <a:rPr lang="en-IN" smtClean="0"/>
              <a:t>25</a:t>
            </a:fld>
            <a:endParaRPr lang="en-IN"/>
          </a:p>
        </p:txBody>
      </p:sp>
    </p:spTree>
    <p:extLst>
      <p:ext uri="{BB962C8B-B14F-4D97-AF65-F5344CB8AC3E}">
        <p14:creationId xmlns:p14="http://schemas.microsoft.com/office/powerpoint/2010/main" val="4125416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E91BBA-2AA4-4BAC-91A1-61925177D533}" type="datetimeFigureOut">
              <a:rPr lang="en-IN" smtClean="0"/>
              <a:t>29-05-2025</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70280622-C6BB-47CB-B8BF-1E121AC0A294}"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00839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E91BBA-2AA4-4BAC-91A1-61925177D533}" type="datetimeFigureOut">
              <a:rPr lang="en-IN" smtClean="0"/>
              <a:t>29-05-2025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280622-C6BB-47CB-B8BF-1E121AC0A294}"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34831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E91BBA-2AA4-4BAC-91A1-61925177D533}" type="datetimeFigureOut">
              <a:rPr lang="en-IN" smtClean="0"/>
              <a:t>29-05-2025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280622-C6BB-47CB-B8BF-1E121AC0A294}"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72595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5E91BBA-2AA4-4BAC-91A1-61925177D533}" type="datetimeFigureOut">
              <a:rPr lang="en-IN" smtClean="0"/>
              <a:t>29-05-2025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280622-C6BB-47CB-B8BF-1E121AC0A294}"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60086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E91BBA-2AA4-4BAC-91A1-61925177D533}" type="datetimeFigureOut">
              <a:rPr lang="en-IN" smtClean="0"/>
              <a:t>29-05-2025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0280622-C6BB-47CB-B8BF-1E121AC0A294}"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76394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5E91BBA-2AA4-4BAC-91A1-61925177D533}" type="datetimeFigureOut">
              <a:rPr lang="en-IN" smtClean="0"/>
              <a:t>29-05-2025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0280622-C6BB-47CB-B8BF-1E121AC0A294}"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48206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E91BBA-2AA4-4BAC-91A1-61925177D533}" type="datetimeFigureOut">
              <a:rPr lang="en-IN" smtClean="0"/>
              <a:t>29-05-2025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0280622-C6BB-47CB-B8BF-1E121AC0A294}" type="slidenum">
              <a:rPr lang="en-IN" smtClean="0"/>
              <a:t>‹#›</a:t>
            </a:fld>
            <a:endParaRPr lang="en-IN"/>
          </a:p>
        </p:txBody>
      </p:sp>
    </p:spTree>
    <p:extLst>
      <p:ext uri="{BB962C8B-B14F-4D97-AF65-F5344CB8AC3E}">
        <p14:creationId xmlns:p14="http://schemas.microsoft.com/office/powerpoint/2010/main" val="2864809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E91BBA-2AA4-4BAC-91A1-61925177D533}" type="datetimeFigureOut">
              <a:rPr lang="en-IN" smtClean="0"/>
              <a:t>29-05-2025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0280622-C6BB-47CB-B8BF-1E121AC0A294}"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36634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55E91BBA-2AA4-4BAC-91A1-61925177D533}" type="datetimeFigureOut">
              <a:rPr lang="en-IN" smtClean="0"/>
              <a:t>29-05-2025</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70280622-C6BB-47CB-B8BF-1E121AC0A294}"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24257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E91BBA-2AA4-4BAC-91A1-61925177D533}" type="datetimeFigureOut">
              <a:rPr lang="en-IN" smtClean="0"/>
              <a:t>29-05-2025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280622-C6BB-47CB-B8BF-1E121AC0A294}"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486045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E91BBA-2AA4-4BAC-91A1-61925177D533}" type="datetimeFigureOut">
              <a:rPr lang="en-IN" smtClean="0"/>
              <a:t>29-05-2025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0280622-C6BB-47CB-B8BF-1E121AC0A294}"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105660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5E91BBA-2AA4-4BAC-91A1-61925177D533}" type="datetimeFigureOut">
              <a:rPr lang="en-IN" smtClean="0"/>
              <a:t>29-05-2025</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70280622-C6BB-47CB-B8BF-1E121AC0A294}"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2484858"/>
      </p:ext>
    </p:extLst>
  </p:cSld>
  <p:clrMap bg1="lt1" tx1="dk1" bg2="lt2" tx2="dk2" accent1="accent1" accent2="accent2" accent3="accent3" accent4="accent4" accent5="accent5" accent6="accent6" hlink="hlink" folHlink="folHlink"/>
  <p:sldLayoutIdLst>
    <p:sldLayoutId id="2147484238" r:id="rId1"/>
    <p:sldLayoutId id="2147484239" r:id="rId2"/>
    <p:sldLayoutId id="2147484240" r:id="rId3"/>
    <p:sldLayoutId id="2147484241" r:id="rId4"/>
    <p:sldLayoutId id="2147484242" r:id="rId5"/>
    <p:sldLayoutId id="2147484243" r:id="rId6"/>
    <p:sldLayoutId id="2147484244" r:id="rId7"/>
    <p:sldLayoutId id="2147484245" r:id="rId8"/>
    <p:sldLayoutId id="2147484246" r:id="rId9"/>
    <p:sldLayoutId id="2147484247" r:id="rId10"/>
    <p:sldLayoutId id="2147484248"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23.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Interview clinic</a:t>
            </a:r>
            <a:endParaRPr lang="en-IN" dirty="0"/>
          </a:p>
        </p:txBody>
      </p:sp>
      <p:sp>
        <p:nvSpPr>
          <p:cNvPr id="3" name="Subtitle 2"/>
          <p:cNvSpPr>
            <a:spLocks noGrp="1"/>
          </p:cNvSpPr>
          <p:nvPr>
            <p:ph type="subTitle" idx="1"/>
          </p:nvPr>
        </p:nvSpPr>
        <p:spPr/>
        <p:txBody>
          <a:bodyPr/>
          <a:lstStyle/>
          <a:p>
            <a:endParaRPr lang="en-IN" dirty="0"/>
          </a:p>
        </p:txBody>
      </p:sp>
    </p:spTree>
    <p:custDataLst>
      <p:tags r:id="rId1"/>
    </p:custDataLst>
    <p:extLst>
      <p:ext uri="{BB962C8B-B14F-4D97-AF65-F5344CB8AC3E}">
        <p14:creationId xmlns:p14="http://schemas.microsoft.com/office/powerpoint/2010/main" val="33716608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 objectives</a:t>
            </a:r>
            <a:endParaRPr lang="en-IN" dirty="0"/>
          </a:p>
        </p:txBody>
      </p:sp>
      <p:sp>
        <p:nvSpPr>
          <p:cNvPr id="3" name="Content Placeholder 2"/>
          <p:cNvSpPr>
            <a:spLocks noGrp="1"/>
          </p:cNvSpPr>
          <p:nvPr>
            <p:ph idx="1"/>
          </p:nvPr>
        </p:nvSpPr>
        <p:spPr/>
        <p:txBody>
          <a:bodyPr/>
          <a:lstStyle/>
          <a:p>
            <a:r>
              <a:rPr lang="en-US" dirty="0"/>
              <a:t>At the end of this 2 hours session, you will be able to </a:t>
            </a:r>
          </a:p>
          <a:p>
            <a:r>
              <a:rPr lang="en-US" dirty="0"/>
              <a:t>Find relevant information about a client</a:t>
            </a:r>
          </a:p>
          <a:p>
            <a:r>
              <a:rPr lang="en-US" dirty="0"/>
              <a:t>Create an impactful introduction</a:t>
            </a:r>
          </a:p>
          <a:p>
            <a:r>
              <a:rPr lang="en-US" dirty="0"/>
              <a:t>Identify the style of an interviewer</a:t>
            </a:r>
          </a:p>
          <a:p>
            <a:r>
              <a:rPr lang="en-US" dirty="0"/>
              <a:t>Apply the STAR method for interview questions.</a:t>
            </a:r>
          </a:p>
          <a:p>
            <a:endParaRPr lang="en-IN" dirty="0"/>
          </a:p>
        </p:txBody>
      </p:sp>
    </p:spTree>
    <p:custDataLst>
      <p:tags r:id="rId1"/>
    </p:custDataLst>
    <p:extLst>
      <p:ext uri="{BB962C8B-B14F-4D97-AF65-F5344CB8AC3E}">
        <p14:creationId xmlns:p14="http://schemas.microsoft.com/office/powerpoint/2010/main" val="3840493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Part-1</a:t>
            </a:r>
            <a:endParaRPr lang="en-IN" dirty="0"/>
          </a:p>
        </p:txBody>
      </p:sp>
      <p:sp>
        <p:nvSpPr>
          <p:cNvPr id="3" name="Content Placeholder 2"/>
          <p:cNvSpPr>
            <a:spLocks noGrp="1"/>
          </p:cNvSpPr>
          <p:nvPr>
            <p:ph idx="1"/>
          </p:nvPr>
        </p:nvSpPr>
        <p:spPr/>
        <p:txBody>
          <a:bodyPr/>
          <a:lstStyle/>
          <a:p>
            <a:r>
              <a:rPr lang="en-US" dirty="0"/>
              <a:t>Preparation</a:t>
            </a:r>
            <a:endParaRPr lang="en-IN" dirty="0"/>
          </a:p>
        </p:txBody>
      </p:sp>
    </p:spTree>
    <p:custDataLst>
      <p:tags r:id="rId1"/>
    </p:custDataLst>
    <p:extLst>
      <p:ext uri="{BB962C8B-B14F-4D97-AF65-F5344CB8AC3E}">
        <p14:creationId xmlns:p14="http://schemas.microsoft.com/office/powerpoint/2010/main" val="956437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a:bodyPr>
          <a:lstStyle/>
          <a:p>
            <a:pPr marL="0" indent="0">
              <a:buNone/>
            </a:pPr>
            <a:r>
              <a:rPr lang="en-US" sz="5400" b="1" dirty="0"/>
              <a:t>Know your client</a:t>
            </a:r>
            <a:endParaRPr lang="en-IN" sz="5400" b="1" dirty="0"/>
          </a:p>
        </p:txBody>
      </p:sp>
    </p:spTree>
    <p:custDataLst>
      <p:tags r:id="rId1"/>
    </p:custDataLst>
    <p:extLst>
      <p:ext uri="{BB962C8B-B14F-4D97-AF65-F5344CB8AC3E}">
        <p14:creationId xmlns:p14="http://schemas.microsoft.com/office/powerpoint/2010/main" val="1582262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Things to consider</a:t>
            </a:r>
            <a:endParaRPr lang="en-IN" dirty="0"/>
          </a:p>
        </p:txBody>
      </p:sp>
      <p:sp>
        <p:nvSpPr>
          <p:cNvPr id="3" name="Content Placeholder 2"/>
          <p:cNvSpPr>
            <a:spLocks noGrp="1"/>
          </p:cNvSpPr>
          <p:nvPr>
            <p:ph idx="1"/>
          </p:nvPr>
        </p:nvSpPr>
        <p:spPr/>
        <p:txBody>
          <a:bodyPr/>
          <a:lstStyle/>
          <a:p>
            <a:r>
              <a:rPr lang="en-US" dirty="0"/>
              <a:t>What do you generally find out about a client before an interview?</a:t>
            </a:r>
          </a:p>
          <a:p>
            <a:endParaRPr lang="en-US" dirty="0"/>
          </a:p>
          <a:p>
            <a:r>
              <a:rPr lang="en-US" dirty="0"/>
              <a:t>How do you use the information gathered for preparing for the interview?</a:t>
            </a:r>
            <a:endParaRPr lang="en-IN" dirty="0"/>
          </a:p>
        </p:txBody>
      </p:sp>
    </p:spTree>
    <p:custDataLst>
      <p:tags r:id="rId1"/>
    </p:custDataLst>
    <p:extLst>
      <p:ext uri="{BB962C8B-B14F-4D97-AF65-F5344CB8AC3E}">
        <p14:creationId xmlns:p14="http://schemas.microsoft.com/office/powerpoint/2010/main" val="26326659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Typical questions for researching a client</a:t>
            </a:r>
            <a:endParaRPr lang="en-IN" dirty="0"/>
          </a:p>
        </p:txBody>
      </p:sp>
      <p:sp>
        <p:nvSpPr>
          <p:cNvPr id="3" name="Content Placeholder 2"/>
          <p:cNvSpPr>
            <a:spLocks noGrp="1"/>
          </p:cNvSpPr>
          <p:nvPr>
            <p:ph idx="1"/>
          </p:nvPr>
        </p:nvSpPr>
        <p:spPr/>
        <p:txBody>
          <a:bodyPr>
            <a:normAutofit/>
          </a:bodyPr>
          <a:lstStyle/>
          <a:p>
            <a:r>
              <a:rPr lang="en-US" dirty="0"/>
              <a:t>What is their primary service or product?</a:t>
            </a:r>
          </a:p>
          <a:p>
            <a:r>
              <a:rPr lang="en-US" dirty="0"/>
              <a:t>Who is their client or customer?</a:t>
            </a:r>
          </a:p>
          <a:p>
            <a:r>
              <a:rPr lang="en-US" dirty="0"/>
              <a:t>What technologies are likely to be used in the project?</a:t>
            </a:r>
          </a:p>
          <a:p>
            <a:r>
              <a:rPr lang="en-US" dirty="0"/>
              <a:t>Which geos do they use?</a:t>
            </a:r>
          </a:p>
          <a:p>
            <a:endParaRPr lang="en-US" dirty="0"/>
          </a:p>
          <a:p>
            <a:endParaRPr lang="en-US" dirty="0"/>
          </a:p>
          <a:p>
            <a:r>
              <a:rPr lang="en-US" dirty="0"/>
              <a:t>Clients look at things from their perspective not yours</a:t>
            </a:r>
            <a:endParaRPr lang="en-IN" dirty="0"/>
          </a:p>
        </p:txBody>
      </p:sp>
    </p:spTree>
    <p:custDataLst>
      <p:tags r:id="rId1"/>
    </p:custDataLst>
    <p:extLst>
      <p:ext uri="{BB962C8B-B14F-4D97-AF65-F5344CB8AC3E}">
        <p14:creationId xmlns:p14="http://schemas.microsoft.com/office/powerpoint/2010/main" val="15653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Knowing the client helps you orient your expertise to their requirements</a:t>
            </a:r>
            <a:endParaRPr lang="en-IN" dirty="0"/>
          </a:p>
        </p:txBody>
      </p:sp>
      <p:sp>
        <p:nvSpPr>
          <p:cNvPr id="3" name="Content Placeholder 2"/>
          <p:cNvSpPr>
            <a:spLocks noGrp="1"/>
          </p:cNvSpPr>
          <p:nvPr>
            <p:ph idx="1"/>
          </p:nvPr>
        </p:nvSpPr>
        <p:spPr/>
        <p:txBody>
          <a:bodyPr>
            <a:normAutofit fontScale="92500" lnSpcReduction="20000"/>
          </a:bodyPr>
          <a:lstStyle/>
          <a:p>
            <a:r>
              <a:rPr lang="en-US" dirty="0"/>
              <a:t>Mention relevant accomplishments in your CV</a:t>
            </a:r>
          </a:p>
          <a:p>
            <a:r>
              <a:rPr lang="en-US" dirty="0"/>
              <a:t>Substantiate  with relevant examples</a:t>
            </a:r>
          </a:p>
          <a:p>
            <a:r>
              <a:rPr lang="en-US" dirty="0"/>
              <a:t>Ask questions that reflect your understanding of their business</a:t>
            </a:r>
          </a:p>
          <a:p>
            <a:endParaRPr lang="en-US" dirty="0"/>
          </a:p>
          <a:p>
            <a:r>
              <a:rPr lang="en-US" dirty="0"/>
              <a:t>Remember</a:t>
            </a:r>
          </a:p>
          <a:p>
            <a:r>
              <a:rPr lang="en-US" dirty="0"/>
              <a:t>Client do not ask general questions about ourselves</a:t>
            </a:r>
          </a:p>
          <a:p>
            <a:r>
              <a:rPr lang="en-US" dirty="0"/>
              <a:t>However, they expect you to know their context</a:t>
            </a:r>
          </a:p>
          <a:p>
            <a:r>
              <a:rPr lang="en-US" dirty="0"/>
              <a:t>Gather information about clients from legitimate sources</a:t>
            </a:r>
            <a:endParaRPr lang="en-IN" dirty="0"/>
          </a:p>
        </p:txBody>
      </p:sp>
    </p:spTree>
    <p:custDataLst>
      <p:tags r:id="rId1"/>
    </p:custDataLst>
    <p:extLst>
      <p:ext uri="{BB962C8B-B14F-4D97-AF65-F5344CB8AC3E}">
        <p14:creationId xmlns:p14="http://schemas.microsoft.com/office/powerpoint/2010/main" val="3251711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3600" dirty="0"/>
              <a:t>List down the attributes a project looks for in a new hire</a:t>
            </a:r>
            <a:endParaRPr lang="en-IN" sz="3600" dirty="0"/>
          </a:p>
        </p:txBody>
      </p:sp>
    </p:spTree>
    <p:custDataLst>
      <p:tags r:id="rId1"/>
    </p:custDataLst>
    <p:extLst>
      <p:ext uri="{BB962C8B-B14F-4D97-AF65-F5344CB8AC3E}">
        <p14:creationId xmlns:p14="http://schemas.microsoft.com/office/powerpoint/2010/main" val="23471469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3200" dirty="0"/>
              <a:t>Aligning your resume to the client/ project and job </a:t>
            </a:r>
            <a:endParaRPr lang="en-IN" sz="3200" dirty="0"/>
          </a:p>
        </p:txBody>
      </p:sp>
    </p:spTree>
    <p:custDataLst>
      <p:tags r:id="rId1"/>
    </p:custDataLst>
    <p:extLst>
      <p:ext uri="{BB962C8B-B14F-4D97-AF65-F5344CB8AC3E}">
        <p14:creationId xmlns:p14="http://schemas.microsoft.com/office/powerpoint/2010/main" val="326779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to prepare an Effective Resume?</a:t>
            </a:r>
            <a:br>
              <a:rPr lang="en-US" dirty="0"/>
            </a:br>
            <a:endParaRPr lang="en-IN" dirty="0"/>
          </a:p>
        </p:txBody>
      </p:sp>
      <p:sp>
        <p:nvSpPr>
          <p:cNvPr id="3" name="Content Placeholder 2"/>
          <p:cNvSpPr>
            <a:spLocks noGrp="1"/>
          </p:cNvSpPr>
          <p:nvPr>
            <p:ph idx="1"/>
          </p:nvPr>
        </p:nvSpPr>
        <p:spPr>
          <a:xfrm>
            <a:off x="725214" y="2402237"/>
            <a:ext cx="11316968" cy="3774726"/>
          </a:xfrm>
        </p:spPr>
        <p:txBody>
          <a:bodyPr/>
          <a:lstStyle/>
          <a:p>
            <a:r>
              <a:rPr lang="en-US" dirty="0"/>
              <a:t>Outline your skills , abilities, work experience and extracurricular activities on paper.</a:t>
            </a:r>
          </a:p>
          <a:p>
            <a:endParaRPr lang="en-US" dirty="0"/>
          </a:p>
          <a:p>
            <a:r>
              <a:rPr lang="en-US" dirty="0"/>
              <a:t>Add your contact information ,</a:t>
            </a:r>
            <a:r>
              <a:rPr lang="en-US" baseline="0" dirty="0"/>
              <a:t> and contact numbers, link to work Social profiles</a:t>
            </a:r>
          </a:p>
          <a:p>
            <a:endParaRPr lang="en-US" dirty="0"/>
          </a:p>
          <a:p>
            <a:r>
              <a:rPr lang="en-US" dirty="0"/>
              <a:t>Tailor your objectives to each company you target or every job role you seek.</a:t>
            </a:r>
          </a:p>
          <a:p>
            <a:r>
              <a:rPr lang="en-US" dirty="0"/>
              <a:t>List your Academy experience , projects, internship details . If you are a new hire</a:t>
            </a:r>
          </a:p>
          <a:p>
            <a:endParaRPr lang="en-US" dirty="0"/>
          </a:p>
          <a:p>
            <a:endParaRPr lang="en-IN" dirty="0"/>
          </a:p>
        </p:txBody>
      </p:sp>
    </p:spTree>
    <p:custDataLst>
      <p:tags r:id="rId1"/>
    </p:custDataLst>
    <p:extLst>
      <p:ext uri="{BB962C8B-B14F-4D97-AF65-F5344CB8AC3E}">
        <p14:creationId xmlns:p14="http://schemas.microsoft.com/office/powerpoint/2010/main" val="3858425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Check your resume</a:t>
            </a:r>
            <a:endParaRPr lang="en-IN" dirty="0"/>
          </a:p>
        </p:txBody>
      </p:sp>
      <p:sp>
        <p:nvSpPr>
          <p:cNvPr id="3" name="Content Placeholder 2"/>
          <p:cNvSpPr>
            <a:spLocks noGrp="1"/>
          </p:cNvSpPr>
          <p:nvPr>
            <p:ph idx="1"/>
          </p:nvPr>
        </p:nvSpPr>
        <p:spPr/>
        <p:txBody>
          <a:bodyPr>
            <a:normAutofit/>
          </a:bodyPr>
          <a:lstStyle/>
          <a:p>
            <a:r>
              <a:rPr lang="en-US" dirty="0"/>
              <a:t>Why is it important to relook at your resume every time?</a:t>
            </a:r>
          </a:p>
          <a:p>
            <a:endParaRPr lang="en-US" dirty="0"/>
          </a:p>
          <a:p>
            <a:r>
              <a:rPr lang="en-US" dirty="0"/>
              <a:t>Look at</a:t>
            </a:r>
          </a:p>
          <a:p>
            <a:r>
              <a:rPr lang="en-US" dirty="0"/>
              <a:t>How you have presented your expertise</a:t>
            </a:r>
          </a:p>
          <a:p>
            <a:r>
              <a:rPr lang="en-US" dirty="0"/>
              <a:t>The content</a:t>
            </a:r>
          </a:p>
          <a:p>
            <a:r>
              <a:rPr lang="en-US" dirty="0"/>
              <a:t>The phrasing</a:t>
            </a:r>
          </a:p>
          <a:p>
            <a:r>
              <a:rPr lang="en-US" dirty="0"/>
              <a:t>The format</a:t>
            </a:r>
            <a:endParaRPr lang="en-IN" dirty="0"/>
          </a:p>
        </p:txBody>
      </p:sp>
    </p:spTree>
    <p:custDataLst>
      <p:tags r:id="rId1"/>
    </p:custDataLst>
    <p:extLst>
      <p:ext uri="{BB962C8B-B14F-4D97-AF65-F5344CB8AC3E}">
        <p14:creationId xmlns:p14="http://schemas.microsoft.com/office/powerpoint/2010/main" val="2405008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Four things that your resume must sum up </a:t>
            </a:r>
            <a:endParaRPr lang="en-IN" dirty="0"/>
          </a:p>
        </p:txBody>
      </p:sp>
      <p:sp>
        <p:nvSpPr>
          <p:cNvPr id="3" name="Content Placeholder 2"/>
          <p:cNvSpPr>
            <a:spLocks noGrp="1"/>
          </p:cNvSpPr>
          <p:nvPr>
            <p:ph idx="1"/>
          </p:nvPr>
        </p:nvSpPr>
        <p:spPr/>
        <p:txBody>
          <a:bodyPr>
            <a:normAutofit/>
          </a:bodyPr>
          <a:lstStyle/>
          <a:p>
            <a:r>
              <a:rPr lang="en-US" dirty="0"/>
              <a:t>What did you do in your earlier projects in campus</a:t>
            </a:r>
          </a:p>
          <a:p>
            <a:r>
              <a:rPr lang="en-US" dirty="0"/>
              <a:t>What was your contribution?</a:t>
            </a:r>
          </a:p>
          <a:p>
            <a:r>
              <a:rPr lang="en-US" dirty="0"/>
              <a:t>What challenges did you face?</a:t>
            </a:r>
          </a:p>
          <a:p>
            <a:r>
              <a:rPr lang="en-US" dirty="0"/>
              <a:t>How did you overcome these challenges ? What learning did you take away?</a:t>
            </a:r>
          </a:p>
          <a:p>
            <a:endParaRPr lang="en-US" dirty="0"/>
          </a:p>
          <a:p>
            <a:endParaRPr lang="en-US" dirty="0"/>
          </a:p>
          <a:p>
            <a:r>
              <a:rPr lang="en-US" dirty="0"/>
              <a:t>Do not under sell or over sell yourself</a:t>
            </a:r>
          </a:p>
          <a:p>
            <a:endParaRPr lang="en-IN" dirty="0"/>
          </a:p>
        </p:txBody>
      </p:sp>
    </p:spTree>
    <p:custDataLst>
      <p:tags r:id="rId1"/>
    </p:custDataLst>
    <p:extLst>
      <p:ext uri="{BB962C8B-B14F-4D97-AF65-F5344CB8AC3E}">
        <p14:creationId xmlns:p14="http://schemas.microsoft.com/office/powerpoint/2010/main" val="3159398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Part-II –</a:t>
            </a:r>
            <a:r>
              <a:rPr lang="en-US" dirty="0" err="1"/>
              <a:t>Itroductions</a:t>
            </a:r>
            <a:endParaRPr lang="en-IN" dirty="0"/>
          </a:p>
        </p:txBody>
      </p:sp>
    </p:spTree>
    <p:custDataLst>
      <p:tags r:id="rId1"/>
    </p:custDataLst>
    <p:extLst>
      <p:ext uri="{BB962C8B-B14F-4D97-AF65-F5344CB8AC3E}">
        <p14:creationId xmlns:p14="http://schemas.microsoft.com/office/powerpoint/2010/main" val="930318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Discuss</a:t>
            </a:r>
            <a:endParaRPr lang="en-IN" dirty="0"/>
          </a:p>
        </p:txBody>
      </p:sp>
      <p:sp>
        <p:nvSpPr>
          <p:cNvPr id="3" name="Content Placeholder 2"/>
          <p:cNvSpPr>
            <a:spLocks noGrp="1"/>
          </p:cNvSpPr>
          <p:nvPr>
            <p:ph idx="1"/>
          </p:nvPr>
        </p:nvSpPr>
        <p:spPr/>
        <p:txBody>
          <a:bodyPr/>
          <a:lstStyle/>
          <a:p>
            <a:r>
              <a:rPr lang="en-US" dirty="0"/>
              <a:t>What do you generally say when introducing yourself?</a:t>
            </a:r>
          </a:p>
          <a:p>
            <a:r>
              <a:rPr lang="en-US" dirty="0"/>
              <a:t>Should you say something more?</a:t>
            </a:r>
          </a:p>
          <a:p>
            <a:endParaRPr lang="en-US" dirty="0"/>
          </a:p>
          <a:p>
            <a:r>
              <a:rPr lang="en-US" dirty="0"/>
              <a:t>If you </a:t>
            </a:r>
            <a:r>
              <a:rPr lang="en-US" dirty="0" err="1"/>
              <a:t>wer</a:t>
            </a:r>
            <a:r>
              <a:rPr lang="en-US" dirty="0"/>
              <a:t> the client, what would you expect in an introduction?</a:t>
            </a:r>
          </a:p>
          <a:p>
            <a:endParaRPr lang="en-US" dirty="0"/>
          </a:p>
          <a:p>
            <a:r>
              <a:rPr lang="en-US" dirty="0"/>
              <a:t>Your introduction is the first positive note that you strike with client.</a:t>
            </a:r>
            <a:endParaRPr lang="en-IN" dirty="0"/>
          </a:p>
        </p:txBody>
      </p:sp>
    </p:spTree>
    <p:custDataLst>
      <p:tags r:id="rId1"/>
    </p:custDataLst>
    <p:extLst>
      <p:ext uri="{BB962C8B-B14F-4D97-AF65-F5344CB8AC3E}">
        <p14:creationId xmlns:p14="http://schemas.microsoft.com/office/powerpoint/2010/main" val="17734258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Script your introduction- Give a snapshot of yourself</a:t>
            </a:r>
            <a:endParaRPr lang="en-IN" dirty="0"/>
          </a:p>
        </p:txBody>
      </p:sp>
      <p:sp>
        <p:nvSpPr>
          <p:cNvPr id="3" name="Content Placeholder 2"/>
          <p:cNvSpPr>
            <a:spLocks noGrp="1"/>
          </p:cNvSpPr>
          <p:nvPr>
            <p:ph idx="1"/>
          </p:nvPr>
        </p:nvSpPr>
        <p:spPr>
          <a:xfrm>
            <a:off x="0" y="1844297"/>
            <a:ext cx="7222210" cy="4742483"/>
          </a:xfrm>
        </p:spPr>
        <p:txBody>
          <a:bodyPr/>
          <a:lstStyle/>
          <a:p>
            <a:r>
              <a:rPr lang="en-US" dirty="0"/>
              <a:t>State your name</a:t>
            </a:r>
          </a:p>
          <a:p>
            <a:r>
              <a:rPr lang="en-US" dirty="0"/>
              <a:t>Say a bit</a:t>
            </a:r>
            <a:r>
              <a:rPr lang="en-US" baseline="0" dirty="0"/>
              <a:t> about your background , you’re learning at academy</a:t>
            </a:r>
          </a:p>
          <a:p>
            <a:r>
              <a:rPr lang="en-US" baseline="0" dirty="0"/>
              <a:t>Say about your previous projects at campus and what role you played and the learning from it</a:t>
            </a:r>
          </a:p>
          <a:p>
            <a:r>
              <a:rPr lang="en-US" baseline="0" dirty="0"/>
              <a:t>State what key attributes you possess and how that will benefit them</a:t>
            </a:r>
          </a:p>
          <a:p>
            <a:r>
              <a:rPr lang="en-US" baseline="0" dirty="0"/>
              <a:t>Say what your skills are and what you look forward to doing in your career</a:t>
            </a:r>
            <a:endParaRPr lang="en-IN" dirty="0"/>
          </a:p>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250591165"/>
              </p:ext>
            </p:extLst>
          </p:nvPr>
        </p:nvGraphicFramePr>
        <p:xfrm>
          <a:off x="7532176" y="1690688"/>
          <a:ext cx="3642102" cy="4658246"/>
        </p:xfrm>
        <a:graphic>
          <a:graphicData uri="http://schemas.openxmlformats.org/drawingml/2006/table">
            <a:tbl>
              <a:tblPr firstRow="1" bandRow="1">
                <a:tableStyleId>{5C22544A-7EE6-4342-B048-85BDC9FD1C3A}</a:tableStyleId>
              </a:tblPr>
              <a:tblGrid>
                <a:gridCol w="3642102">
                  <a:extLst>
                    <a:ext uri="{9D8B030D-6E8A-4147-A177-3AD203B41FA5}">
                      <a16:colId xmlns:a16="http://schemas.microsoft.com/office/drawing/2014/main" val="572717210"/>
                    </a:ext>
                  </a:extLst>
                </a:gridCol>
              </a:tblGrid>
              <a:tr h="4658246">
                <a:tc>
                  <a:txBody>
                    <a:bodyPr/>
                    <a:lstStyle/>
                    <a:p>
                      <a:r>
                        <a:rPr lang="en-US" sz="2400" dirty="0">
                          <a:solidFill>
                            <a:schemeClr val="tx1"/>
                          </a:solidFill>
                        </a:rPr>
                        <a:t>Use about 80 </a:t>
                      </a:r>
                      <a:r>
                        <a:rPr lang="en-US" sz="2400" dirty="0" err="1">
                          <a:solidFill>
                            <a:schemeClr val="tx1"/>
                          </a:solidFill>
                        </a:rPr>
                        <a:t>tp</a:t>
                      </a:r>
                      <a:r>
                        <a:rPr lang="en-US" sz="2400" dirty="0">
                          <a:solidFill>
                            <a:schemeClr val="tx1"/>
                          </a:solidFill>
                        </a:rPr>
                        <a:t> 100 words to speak for about 60 seconds</a:t>
                      </a:r>
                    </a:p>
                    <a:p>
                      <a:endParaRPr lang="en-US" sz="2400" dirty="0">
                        <a:solidFill>
                          <a:schemeClr val="tx1"/>
                        </a:solidFill>
                      </a:endParaRPr>
                    </a:p>
                    <a:p>
                      <a:endParaRPr lang="en-US" sz="2400" dirty="0">
                        <a:solidFill>
                          <a:schemeClr val="tx1"/>
                        </a:solidFill>
                      </a:endParaRPr>
                    </a:p>
                    <a:p>
                      <a:r>
                        <a:rPr lang="en-US" sz="2400" dirty="0">
                          <a:solidFill>
                            <a:schemeClr val="tx1"/>
                          </a:solidFill>
                        </a:rPr>
                        <a:t>Use crisp , short sentences</a:t>
                      </a:r>
                    </a:p>
                    <a:p>
                      <a:endParaRPr lang="en-US" sz="2400" dirty="0">
                        <a:solidFill>
                          <a:schemeClr val="tx1"/>
                        </a:solidFill>
                      </a:endParaRPr>
                    </a:p>
                    <a:p>
                      <a:r>
                        <a:rPr lang="en-US" sz="2400" dirty="0">
                          <a:solidFill>
                            <a:schemeClr val="tx1"/>
                          </a:solidFill>
                        </a:rPr>
                        <a:t>Avoid self-doubting phrases such as ‘ I think I am good at”</a:t>
                      </a:r>
                      <a:endParaRPr lang="en-IN" sz="2400" dirty="0">
                        <a:solidFill>
                          <a:schemeClr val="tx1"/>
                        </a:solidFill>
                      </a:endParaRPr>
                    </a:p>
                  </a:txBody>
                  <a:tcPr>
                    <a:solidFill>
                      <a:schemeClr val="bg1"/>
                    </a:solidFill>
                  </a:tcPr>
                </a:tc>
                <a:extLst>
                  <a:ext uri="{0D108BD9-81ED-4DB2-BD59-A6C34878D82A}">
                    <a16:rowId xmlns:a16="http://schemas.microsoft.com/office/drawing/2014/main" val="4165980195"/>
                  </a:ext>
                </a:extLst>
              </a:tr>
            </a:tbl>
          </a:graphicData>
        </a:graphic>
      </p:graphicFrame>
    </p:spTree>
    <p:custDataLst>
      <p:tags r:id="rId1"/>
    </p:custDataLst>
    <p:extLst>
      <p:ext uri="{BB962C8B-B14F-4D97-AF65-F5344CB8AC3E}">
        <p14:creationId xmlns:p14="http://schemas.microsoft.com/office/powerpoint/2010/main" val="1121199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0932" y="649223"/>
            <a:ext cx="9601196" cy="1303867"/>
          </a:xfrm>
        </p:spPr>
        <p:txBody>
          <a:bodyPr/>
          <a:lstStyle/>
          <a:p>
            <a:r>
              <a:rPr lang="en-US" dirty="0"/>
              <a:t>Tip: Use verbs that sound dynamic</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5885766"/>
              </p:ext>
            </p:extLst>
          </p:nvPr>
        </p:nvGraphicFramePr>
        <p:xfrm>
          <a:off x="703730" y="1953090"/>
          <a:ext cx="10515600" cy="4277532"/>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1785476409"/>
                    </a:ext>
                  </a:extLst>
                </a:gridCol>
                <a:gridCol w="3505200">
                  <a:extLst>
                    <a:ext uri="{9D8B030D-6E8A-4147-A177-3AD203B41FA5}">
                      <a16:colId xmlns:a16="http://schemas.microsoft.com/office/drawing/2014/main" val="2747081451"/>
                    </a:ext>
                  </a:extLst>
                </a:gridCol>
                <a:gridCol w="3505200">
                  <a:extLst>
                    <a:ext uri="{9D8B030D-6E8A-4147-A177-3AD203B41FA5}">
                      <a16:colId xmlns:a16="http://schemas.microsoft.com/office/drawing/2014/main" val="1353051598"/>
                    </a:ext>
                  </a:extLst>
                </a:gridCol>
              </a:tblGrid>
              <a:tr h="2138766">
                <a:tc>
                  <a:txBody>
                    <a:bodyPr/>
                    <a:lstStyle/>
                    <a:p>
                      <a:r>
                        <a:rPr lang="en-US" sz="4400" dirty="0"/>
                        <a:t>Created</a:t>
                      </a:r>
                      <a:endParaRPr lang="en-IN" sz="4400" dirty="0"/>
                    </a:p>
                  </a:txBody>
                  <a:tcPr/>
                </a:tc>
                <a:tc>
                  <a:txBody>
                    <a:bodyPr/>
                    <a:lstStyle/>
                    <a:p>
                      <a:r>
                        <a:rPr lang="en-US" sz="4400" dirty="0"/>
                        <a:t>Achieved</a:t>
                      </a:r>
                      <a:endParaRPr lang="en-IN" sz="4400" dirty="0"/>
                    </a:p>
                  </a:txBody>
                  <a:tcPr/>
                </a:tc>
                <a:tc>
                  <a:txBody>
                    <a:bodyPr/>
                    <a:lstStyle/>
                    <a:p>
                      <a:r>
                        <a:rPr lang="en-US" sz="4400" dirty="0"/>
                        <a:t>Forecasted</a:t>
                      </a:r>
                      <a:endParaRPr lang="en-IN" sz="4400" dirty="0"/>
                    </a:p>
                  </a:txBody>
                  <a:tcPr/>
                </a:tc>
                <a:extLst>
                  <a:ext uri="{0D108BD9-81ED-4DB2-BD59-A6C34878D82A}">
                    <a16:rowId xmlns:a16="http://schemas.microsoft.com/office/drawing/2014/main" val="1377098812"/>
                  </a:ext>
                </a:extLst>
              </a:tr>
              <a:tr h="2138766">
                <a:tc>
                  <a:txBody>
                    <a:bodyPr/>
                    <a:lstStyle/>
                    <a:p>
                      <a:r>
                        <a:rPr lang="en-US" sz="4400" dirty="0"/>
                        <a:t>Launched</a:t>
                      </a:r>
                      <a:endParaRPr lang="en-IN" sz="4400" dirty="0"/>
                    </a:p>
                  </a:txBody>
                  <a:tcPr/>
                </a:tc>
                <a:tc>
                  <a:txBody>
                    <a:bodyPr/>
                    <a:lstStyle/>
                    <a:p>
                      <a:r>
                        <a:rPr lang="en-US" sz="4400" dirty="0"/>
                        <a:t>Improvised</a:t>
                      </a:r>
                      <a:endParaRPr lang="en-IN" sz="4400" dirty="0"/>
                    </a:p>
                  </a:txBody>
                  <a:tcPr/>
                </a:tc>
                <a:tc>
                  <a:txBody>
                    <a:bodyPr/>
                    <a:lstStyle/>
                    <a:p>
                      <a:r>
                        <a:rPr lang="en-US" sz="4400" dirty="0"/>
                        <a:t>Challenged</a:t>
                      </a:r>
                      <a:endParaRPr lang="en-IN" sz="4400" dirty="0"/>
                    </a:p>
                  </a:txBody>
                  <a:tcPr/>
                </a:tc>
                <a:extLst>
                  <a:ext uri="{0D108BD9-81ED-4DB2-BD59-A6C34878D82A}">
                    <a16:rowId xmlns:a16="http://schemas.microsoft.com/office/drawing/2014/main" val="1219033661"/>
                  </a:ext>
                </a:extLst>
              </a:tr>
            </a:tbl>
          </a:graphicData>
        </a:graphic>
      </p:graphicFrame>
    </p:spTree>
    <p:custDataLst>
      <p:tags r:id="rId1"/>
    </p:custDataLst>
    <p:extLst>
      <p:ext uri="{BB962C8B-B14F-4D97-AF65-F5344CB8AC3E}">
        <p14:creationId xmlns:p14="http://schemas.microsoft.com/office/powerpoint/2010/main" val="31701425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Tip : keep your sentences short and to the point</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59462930"/>
              </p:ext>
            </p:extLst>
          </p:nvPr>
        </p:nvGraphicFramePr>
        <p:xfrm>
          <a:off x="976394" y="2309246"/>
          <a:ext cx="10454898" cy="4138047"/>
        </p:xfrm>
        <a:graphic>
          <a:graphicData uri="http://schemas.openxmlformats.org/drawingml/2006/table">
            <a:tbl>
              <a:tblPr firstRow="1" bandRow="1">
                <a:tableStyleId>{5C22544A-7EE6-4342-B048-85BDC9FD1C3A}</a:tableStyleId>
              </a:tblPr>
              <a:tblGrid>
                <a:gridCol w="5227449">
                  <a:extLst>
                    <a:ext uri="{9D8B030D-6E8A-4147-A177-3AD203B41FA5}">
                      <a16:colId xmlns:a16="http://schemas.microsoft.com/office/drawing/2014/main" val="374848495"/>
                    </a:ext>
                  </a:extLst>
                </a:gridCol>
                <a:gridCol w="5227449">
                  <a:extLst>
                    <a:ext uri="{9D8B030D-6E8A-4147-A177-3AD203B41FA5}">
                      <a16:colId xmlns:a16="http://schemas.microsoft.com/office/drawing/2014/main" val="835318237"/>
                    </a:ext>
                  </a:extLst>
                </a:gridCol>
              </a:tblGrid>
              <a:tr h="1379349">
                <a:tc>
                  <a:txBody>
                    <a:bodyPr/>
                    <a:lstStyle/>
                    <a:p>
                      <a:r>
                        <a:rPr lang="en-US" sz="2400" dirty="0"/>
                        <a:t>Use active not passive sentences</a:t>
                      </a:r>
                      <a:endParaRPr lang="en-IN" sz="2400" dirty="0"/>
                    </a:p>
                  </a:txBody>
                  <a:tcPr/>
                </a:tc>
                <a:tc>
                  <a:txBody>
                    <a:bodyPr/>
                    <a:lstStyle/>
                    <a:p>
                      <a:r>
                        <a:rPr lang="en-US" sz="2400" dirty="0"/>
                        <a:t>Be straight forward</a:t>
                      </a:r>
                      <a:endParaRPr lang="en-IN" sz="2400" dirty="0"/>
                    </a:p>
                  </a:txBody>
                  <a:tcPr/>
                </a:tc>
                <a:extLst>
                  <a:ext uri="{0D108BD9-81ED-4DB2-BD59-A6C34878D82A}">
                    <a16:rowId xmlns:a16="http://schemas.microsoft.com/office/drawing/2014/main" val="4098929539"/>
                  </a:ext>
                </a:extLst>
              </a:tr>
              <a:tr h="1379349">
                <a:tc>
                  <a:txBody>
                    <a:bodyPr/>
                    <a:lstStyle/>
                    <a:p>
                      <a:r>
                        <a:rPr lang="en-US" sz="2400" dirty="0"/>
                        <a:t>Say “ I analyzed and developed the project”</a:t>
                      </a:r>
                      <a:endParaRPr lang="en-IN" sz="2400" dirty="0"/>
                    </a:p>
                  </a:txBody>
                  <a:tcPr/>
                </a:tc>
                <a:tc>
                  <a:txBody>
                    <a:bodyPr/>
                    <a:lstStyle/>
                    <a:p>
                      <a:r>
                        <a:rPr lang="en-US" sz="2400" dirty="0"/>
                        <a:t>Say</a:t>
                      </a:r>
                    </a:p>
                    <a:p>
                      <a:r>
                        <a:rPr lang="en-US" sz="2400" dirty="0"/>
                        <a:t>I rewrote the project</a:t>
                      </a:r>
                      <a:endParaRPr lang="en-IN" sz="2400" dirty="0"/>
                    </a:p>
                  </a:txBody>
                  <a:tcPr/>
                </a:tc>
                <a:extLst>
                  <a:ext uri="{0D108BD9-81ED-4DB2-BD59-A6C34878D82A}">
                    <a16:rowId xmlns:a16="http://schemas.microsoft.com/office/drawing/2014/main" val="763598713"/>
                  </a:ext>
                </a:extLst>
              </a:tr>
              <a:tr h="1379349">
                <a:tc>
                  <a:txBody>
                    <a:bodyPr/>
                    <a:lstStyle/>
                    <a:p>
                      <a:r>
                        <a:rPr lang="en-US" sz="2400" dirty="0"/>
                        <a:t>Not</a:t>
                      </a:r>
                    </a:p>
                    <a:p>
                      <a:r>
                        <a:rPr lang="en-US" sz="2400" dirty="0"/>
                        <a:t>“The</a:t>
                      </a:r>
                      <a:r>
                        <a:rPr lang="en-US" sz="2400" baseline="0" dirty="0"/>
                        <a:t> project was analyzed and developed by me”</a:t>
                      </a:r>
                      <a:endParaRPr lang="en-IN" sz="2400" dirty="0"/>
                    </a:p>
                  </a:txBody>
                  <a:tcPr/>
                </a:tc>
                <a:tc>
                  <a:txBody>
                    <a:bodyPr/>
                    <a:lstStyle/>
                    <a:p>
                      <a:r>
                        <a:rPr lang="en-US" sz="2400" dirty="0"/>
                        <a:t>I was responsible</a:t>
                      </a:r>
                      <a:r>
                        <a:rPr lang="en-US" sz="2400" baseline="0" dirty="0"/>
                        <a:t> for improving the quality of…”</a:t>
                      </a:r>
                      <a:endParaRPr lang="en-IN" sz="2400" dirty="0"/>
                    </a:p>
                  </a:txBody>
                  <a:tcPr/>
                </a:tc>
                <a:extLst>
                  <a:ext uri="{0D108BD9-81ED-4DB2-BD59-A6C34878D82A}">
                    <a16:rowId xmlns:a16="http://schemas.microsoft.com/office/drawing/2014/main" val="3996945529"/>
                  </a:ext>
                </a:extLst>
              </a:tr>
            </a:tbl>
          </a:graphicData>
        </a:graphic>
      </p:graphicFrame>
    </p:spTree>
    <p:custDataLst>
      <p:tags r:id="rId1"/>
    </p:custDataLst>
    <p:extLst>
      <p:ext uri="{BB962C8B-B14F-4D97-AF65-F5344CB8AC3E}">
        <p14:creationId xmlns:p14="http://schemas.microsoft.com/office/powerpoint/2010/main" val="36076731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982132"/>
            <a:ext cx="9601196" cy="691685"/>
          </a:xfrm>
        </p:spPr>
        <p:txBody>
          <a:bodyPr>
            <a:normAutofit/>
          </a:bodyPr>
          <a:lstStyle/>
          <a:p>
            <a:r>
              <a:rPr lang="en-US" dirty="0"/>
              <a:t>Prepare your introduction</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02593551"/>
              </p:ext>
            </p:extLst>
          </p:nvPr>
        </p:nvGraphicFramePr>
        <p:xfrm>
          <a:off x="829490" y="2231755"/>
          <a:ext cx="10081318" cy="4528554"/>
        </p:xfrm>
        <a:graphic>
          <a:graphicData uri="http://schemas.openxmlformats.org/drawingml/2006/table">
            <a:tbl>
              <a:tblPr firstRow="1" bandRow="1">
                <a:tableStyleId>{5C22544A-7EE6-4342-B048-85BDC9FD1C3A}</a:tableStyleId>
              </a:tblPr>
              <a:tblGrid>
                <a:gridCol w="10081318">
                  <a:extLst>
                    <a:ext uri="{9D8B030D-6E8A-4147-A177-3AD203B41FA5}">
                      <a16:colId xmlns:a16="http://schemas.microsoft.com/office/drawing/2014/main" val="3645338305"/>
                    </a:ext>
                  </a:extLst>
                </a:gridCol>
              </a:tblGrid>
              <a:tr h="332139">
                <a:tc>
                  <a:txBody>
                    <a:bodyPr/>
                    <a:lstStyle/>
                    <a:p>
                      <a:r>
                        <a:rPr lang="en-US" sz="3600" dirty="0"/>
                        <a:t>1.Name</a:t>
                      </a:r>
                      <a:endParaRPr lang="en-IN" sz="3600" dirty="0"/>
                    </a:p>
                  </a:txBody>
                  <a:tcPr/>
                </a:tc>
                <a:extLst>
                  <a:ext uri="{0D108BD9-81ED-4DB2-BD59-A6C34878D82A}">
                    <a16:rowId xmlns:a16="http://schemas.microsoft.com/office/drawing/2014/main" val="1421302896"/>
                  </a:ext>
                </a:extLst>
              </a:tr>
              <a:tr h="940558">
                <a:tc>
                  <a:txBody>
                    <a:bodyPr/>
                    <a:lstStyle/>
                    <a:p>
                      <a:r>
                        <a:rPr lang="en-US" sz="3200" b="1" dirty="0"/>
                        <a:t>2. Background if experience any</a:t>
                      </a:r>
                      <a:endParaRPr lang="en-IN" sz="3200" b="1" dirty="0"/>
                    </a:p>
                  </a:txBody>
                  <a:tcPr/>
                </a:tc>
                <a:extLst>
                  <a:ext uri="{0D108BD9-81ED-4DB2-BD59-A6C34878D82A}">
                    <a16:rowId xmlns:a16="http://schemas.microsoft.com/office/drawing/2014/main" val="754799435"/>
                  </a:ext>
                </a:extLst>
              </a:tr>
              <a:tr h="940558">
                <a:tc>
                  <a:txBody>
                    <a:bodyPr/>
                    <a:lstStyle/>
                    <a:p>
                      <a:r>
                        <a:rPr lang="en-US" sz="3200" b="1" dirty="0"/>
                        <a:t>3. Your current track and learnings from Academy</a:t>
                      </a:r>
                      <a:endParaRPr lang="en-IN" sz="3200" b="1" dirty="0"/>
                    </a:p>
                  </a:txBody>
                  <a:tcPr/>
                </a:tc>
                <a:extLst>
                  <a:ext uri="{0D108BD9-81ED-4DB2-BD59-A6C34878D82A}">
                    <a16:rowId xmlns:a16="http://schemas.microsoft.com/office/drawing/2014/main" val="2658174523"/>
                  </a:ext>
                </a:extLst>
              </a:tr>
              <a:tr h="940558">
                <a:tc>
                  <a:txBody>
                    <a:bodyPr/>
                    <a:lstStyle/>
                    <a:p>
                      <a:r>
                        <a:rPr lang="en-US" sz="3200" b="1" dirty="0"/>
                        <a:t>4. Your experience, projects, certifications</a:t>
                      </a:r>
                      <a:r>
                        <a:rPr lang="en-US" sz="3200" b="1" baseline="0" dirty="0"/>
                        <a:t> </a:t>
                      </a:r>
                      <a:r>
                        <a:rPr lang="en-US" sz="3200" b="1" baseline="0" dirty="0" err="1"/>
                        <a:t>etc</a:t>
                      </a:r>
                      <a:r>
                        <a:rPr lang="en-US" sz="3200" b="1" baseline="0" dirty="0"/>
                        <a:t>,.,</a:t>
                      </a:r>
                      <a:endParaRPr lang="en-IN" sz="3200" b="1" dirty="0"/>
                    </a:p>
                  </a:txBody>
                  <a:tcPr/>
                </a:tc>
                <a:extLst>
                  <a:ext uri="{0D108BD9-81ED-4DB2-BD59-A6C34878D82A}">
                    <a16:rowId xmlns:a16="http://schemas.microsoft.com/office/drawing/2014/main" val="1387297597"/>
                  </a:ext>
                </a:extLst>
              </a:tr>
              <a:tr h="968737">
                <a:tc>
                  <a:txBody>
                    <a:bodyPr/>
                    <a:lstStyle/>
                    <a:p>
                      <a:r>
                        <a:rPr lang="en-US" sz="3200" b="1" dirty="0"/>
                        <a:t>5. What are your key skills are and what you look forward to doing in your career</a:t>
                      </a:r>
                      <a:endParaRPr lang="en-IN" sz="3200" b="1" dirty="0"/>
                    </a:p>
                  </a:txBody>
                  <a:tcPr/>
                </a:tc>
                <a:extLst>
                  <a:ext uri="{0D108BD9-81ED-4DB2-BD59-A6C34878D82A}">
                    <a16:rowId xmlns:a16="http://schemas.microsoft.com/office/drawing/2014/main" val="217029458"/>
                  </a:ext>
                </a:extLst>
              </a:tr>
            </a:tbl>
          </a:graphicData>
        </a:graphic>
      </p:graphicFrame>
    </p:spTree>
    <p:custDataLst>
      <p:tags r:id="rId1"/>
    </p:custDataLst>
    <p:extLst>
      <p:ext uri="{BB962C8B-B14F-4D97-AF65-F5344CB8AC3E}">
        <p14:creationId xmlns:p14="http://schemas.microsoft.com/office/powerpoint/2010/main" val="33365026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5435" y="898686"/>
            <a:ext cx="8825659" cy="1147090"/>
          </a:xfrm>
        </p:spPr>
        <p:txBody>
          <a:bodyPr>
            <a:normAutofit/>
          </a:bodyPr>
          <a:lstStyle/>
          <a:p>
            <a:pPr marL="0" indent="0">
              <a:buNone/>
            </a:pPr>
            <a:r>
              <a:rPr lang="en-US" sz="5400" b="1" dirty="0">
                <a:solidFill>
                  <a:schemeClr val="bg1"/>
                </a:solidFill>
              </a:rPr>
              <a:t>Impactful body language</a:t>
            </a:r>
            <a:endParaRPr lang="en-IN" sz="5400" b="1" dirty="0">
              <a:solidFill>
                <a:schemeClr val="bg1"/>
              </a:solidFill>
            </a:endParaRPr>
          </a:p>
        </p:txBody>
      </p:sp>
      <p:sp>
        <p:nvSpPr>
          <p:cNvPr id="4" name="AutoShape 2" descr="Albert Mehrabian's 7-38-55 Rule of Personal Communication - Right Attitud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Albert Mehrabian's 7-38-55 Rule of Personal Communication - Right Attitude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6" descr="Albert Mehrabian's 7-38-55 Rule of Personal Communication - Right Attitudes"/>
          <p:cNvSpPr>
            <a:spLocks noChangeAspect="1" noChangeArrowheads="1"/>
          </p:cNvSpPr>
          <p:nvPr/>
        </p:nvSpPr>
        <p:spPr bwMode="auto">
          <a:xfrm>
            <a:off x="460374" y="160337"/>
            <a:ext cx="5264053" cy="52640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descr="i trust, i can: Mehrabian’s 7% - 38% - 55% Rul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6291" y="1601227"/>
            <a:ext cx="7026607" cy="3975580"/>
          </a:xfrm>
          <a:prstGeom prst="rect">
            <a:avLst/>
          </a:prstGeom>
        </p:spPr>
      </p:pic>
    </p:spTree>
    <p:custDataLst>
      <p:tags r:id="rId1"/>
    </p:custDataLst>
    <p:extLst>
      <p:ext uri="{BB962C8B-B14F-4D97-AF65-F5344CB8AC3E}">
        <p14:creationId xmlns:p14="http://schemas.microsoft.com/office/powerpoint/2010/main" val="5188441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your introduction</a:t>
            </a:r>
            <a:endParaRPr lang="en-IN" dirty="0"/>
          </a:p>
        </p:txBody>
      </p:sp>
      <p:sp>
        <p:nvSpPr>
          <p:cNvPr id="3" name="Content Placeholder 2"/>
          <p:cNvSpPr>
            <a:spLocks noGrp="1"/>
          </p:cNvSpPr>
          <p:nvPr>
            <p:ph idx="1"/>
          </p:nvPr>
        </p:nvSpPr>
        <p:spPr/>
        <p:txBody>
          <a:bodyPr>
            <a:normAutofit fontScale="92500" lnSpcReduction="20000"/>
          </a:bodyPr>
          <a:lstStyle/>
          <a:p>
            <a:r>
              <a:rPr lang="en-US" sz="2800" b="1" dirty="0"/>
              <a:t>Ask the Participants to pair up and practice powerful introduction keeping in mind the right body language etc. They can connect through video calls on their smart phone for this activity</a:t>
            </a:r>
          </a:p>
          <a:p>
            <a:endParaRPr lang="en-US" sz="2800" b="1" dirty="0"/>
          </a:p>
          <a:p>
            <a:endParaRPr lang="en-US" sz="2800" b="1" dirty="0"/>
          </a:p>
          <a:p>
            <a:r>
              <a:rPr lang="en-US" sz="2800" b="1" dirty="0"/>
              <a:t>Give them 15 min to finish for this activity</a:t>
            </a:r>
            <a:endParaRPr lang="en-IN" sz="2800" b="1" dirty="0"/>
          </a:p>
          <a:p>
            <a:endParaRPr lang="en-IN" dirty="0"/>
          </a:p>
        </p:txBody>
      </p:sp>
    </p:spTree>
    <p:custDataLst>
      <p:tags r:id="rId1"/>
    </p:custDataLst>
    <p:extLst>
      <p:ext uri="{BB962C8B-B14F-4D97-AF65-F5344CB8AC3E}">
        <p14:creationId xmlns:p14="http://schemas.microsoft.com/office/powerpoint/2010/main" val="39616211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PART-III Ace your interview</a:t>
            </a:r>
            <a:endParaRPr lang="en-IN" dirty="0"/>
          </a:p>
        </p:txBody>
      </p:sp>
    </p:spTree>
    <p:custDataLst>
      <p:tags r:id="rId1"/>
    </p:custDataLst>
    <p:extLst>
      <p:ext uri="{BB962C8B-B14F-4D97-AF65-F5344CB8AC3E}">
        <p14:creationId xmlns:p14="http://schemas.microsoft.com/office/powerpoint/2010/main" val="21111992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4915" y="728420"/>
            <a:ext cx="10299916" cy="852407"/>
          </a:xfrm>
        </p:spPr>
        <p:txBody>
          <a:bodyPr/>
          <a:lstStyle/>
          <a:p>
            <a:r>
              <a:rPr lang="en-US" b="1" dirty="0"/>
              <a:t>STAR technique</a:t>
            </a:r>
            <a:endParaRPr lang="en-IN" b="1" dirty="0"/>
          </a:p>
        </p:txBody>
      </p:sp>
      <p:pic>
        <p:nvPicPr>
          <p:cNvPr id="1026" name="Picture 2" descr="10 Examples using the STAR interview method - Jobstreet Malaysia"/>
          <p:cNvPicPr>
            <a:picLocks noGrp="1" noChangeAspect="1" noChangeArrowheads="1"/>
          </p:cNvPicPr>
          <p:nvPr>
            <p:ph idx="1"/>
          </p:nvPr>
        </p:nvPicPr>
        <p:blipFill>
          <a:blip r:embed="rId4">
            <a:extLst>
              <a:ext uri="{28A0092B-C50C-407E-A947-70E740481C1C}">
                <a14:useLocalDpi xmlns:a14="http://schemas.microsoft.com/office/drawing/2010/main" val="0"/>
              </a:ext>
            </a:extLst>
          </a:blip>
          <a:stretch>
            <a:fillRect/>
          </a:stretch>
        </p:blipFill>
        <p:spPr bwMode="auto">
          <a:xfrm>
            <a:off x="2178286" y="2366683"/>
            <a:ext cx="7493173" cy="3903196"/>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8247220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Activity :-Using the STAR method</a:t>
            </a:r>
            <a:br>
              <a:rPr lang="en-US" dirty="0"/>
            </a:br>
            <a:r>
              <a:rPr lang="en-US" dirty="0"/>
              <a:t>Tell me about a time you….</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62895358"/>
              </p:ext>
            </p:extLst>
          </p:nvPr>
        </p:nvGraphicFramePr>
        <p:xfrm>
          <a:off x="1156446" y="2350456"/>
          <a:ext cx="10071846" cy="3871050"/>
        </p:xfrm>
        <a:graphic>
          <a:graphicData uri="http://schemas.openxmlformats.org/drawingml/2006/table">
            <a:tbl>
              <a:tblPr firstRow="1" bandRow="1">
                <a:tableStyleId>{5C22544A-7EE6-4342-B048-85BDC9FD1C3A}</a:tableStyleId>
              </a:tblPr>
              <a:tblGrid>
                <a:gridCol w="5035923">
                  <a:extLst>
                    <a:ext uri="{9D8B030D-6E8A-4147-A177-3AD203B41FA5}">
                      <a16:colId xmlns:a16="http://schemas.microsoft.com/office/drawing/2014/main" val="2066626716"/>
                    </a:ext>
                  </a:extLst>
                </a:gridCol>
                <a:gridCol w="5035923">
                  <a:extLst>
                    <a:ext uri="{9D8B030D-6E8A-4147-A177-3AD203B41FA5}">
                      <a16:colId xmlns:a16="http://schemas.microsoft.com/office/drawing/2014/main" val="331429490"/>
                    </a:ext>
                  </a:extLst>
                </a:gridCol>
              </a:tblGrid>
              <a:tr h="3871050">
                <a:tc>
                  <a:txBody>
                    <a:bodyPr/>
                    <a:lstStyle/>
                    <a:p>
                      <a:r>
                        <a:rPr lang="en-US" sz="4000" dirty="0"/>
                        <a:t>Defined a problem , developed and delivered the solution </a:t>
                      </a:r>
                      <a:endParaRPr lang="en-IN" sz="4000" dirty="0"/>
                    </a:p>
                  </a:txBody>
                  <a:tcPr marL="76739" marR="76739">
                    <a:solidFill>
                      <a:srgbClr val="92D050"/>
                    </a:solidFill>
                  </a:tcPr>
                </a:tc>
                <a:tc>
                  <a:txBody>
                    <a:bodyPr/>
                    <a:lstStyle/>
                    <a:p>
                      <a:r>
                        <a:rPr lang="en-US" sz="4000" dirty="0"/>
                        <a:t>Managed through difficulties to meet the deadline and deliver a quality result</a:t>
                      </a:r>
                      <a:endParaRPr lang="en-IN" sz="4000" dirty="0"/>
                    </a:p>
                  </a:txBody>
                  <a:tcPr marL="76739" marR="76739">
                    <a:solidFill>
                      <a:schemeClr val="accent2">
                        <a:lumMod val="60000"/>
                        <a:lumOff val="40000"/>
                      </a:schemeClr>
                    </a:solidFill>
                  </a:tcPr>
                </a:tc>
                <a:extLst>
                  <a:ext uri="{0D108BD9-81ED-4DB2-BD59-A6C34878D82A}">
                    <a16:rowId xmlns:a16="http://schemas.microsoft.com/office/drawing/2014/main" val="387107834"/>
                  </a:ext>
                </a:extLst>
              </a:tr>
            </a:tbl>
          </a:graphicData>
        </a:graphic>
      </p:graphicFrame>
    </p:spTree>
    <p:custDataLst>
      <p:tags r:id="rId1"/>
    </p:custDataLst>
    <p:extLst>
      <p:ext uri="{BB962C8B-B14F-4D97-AF65-F5344CB8AC3E}">
        <p14:creationId xmlns:p14="http://schemas.microsoft.com/office/powerpoint/2010/main" val="5808542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 IV- Handling Questions</a:t>
            </a:r>
            <a:endParaRPr lang="en-IN" dirty="0"/>
          </a:p>
        </p:txBody>
      </p:sp>
    </p:spTree>
    <p:custDataLst>
      <p:tags r:id="rId1"/>
    </p:custDataLst>
    <p:extLst>
      <p:ext uri="{BB962C8B-B14F-4D97-AF65-F5344CB8AC3E}">
        <p14:creationId xmlns:p14="http://schemas.microsoft.com/office/powerpoint/2010/main" val="26748306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would you say?</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52916387"/>
              </p:ext>
            </p:extLst>
          </p:nvPr>
        </p:nvGraphicFramePr>
        <p:xfrm>
          <a:off x="838200" y="1825624"/>
          <a:ext cx="4400227" cy="4482186"/>
        </p:xfrm>
        <a:graphic>
          <a:graphicData uri="http://schemas.openxmlformats.org/drawingml/2006/table">
            <a:tbl>
              <a:tblPr firstRow="1" bandRow="1">
                <a:tableStyleId>{5C22544A-7EE6-4342-B048-85BDC9FD1C3A}</a:tableStyleId>
              </a:tblPr>
              <a:tblGrid>
                <a:gridCol w="4400227">
                  <a:extLst>
                    <a:ext uri="{9D8B030D-6E8A-4147-A177-3AD203B41FA5}">
                      <a16:colId xmlns:a16="http://schemas.microsoft.com/office/drawing/2014/main" val="3218680135"/>
                    </a:ext>
                  </a:extLst>
                </a:gridCol>
              </a:tblGrid>
              <a:tr h="1494062">
                <a:tc>
                  <a:txBody>
                    <a:bodyPr/>
                    <a:lstStyle/>
                    <a:p>
                      <a:r>
                        <a:rPr lang="en-US" sz="2400" dirty="0"/>
                        <a:t>When you know something similar</a:t>
                      </a:r>
                      <a:endParaRPr lang="en-IN" sz="2400" dirty="0"/>
                    </a:p>
                  </a:txBody>
                  <a:tcPr/>
                </a:tc>
                <a:extLst>
                  <a:ext uri="{0D108BD9-81ED-4DB2-BD59-A6C34878D82A}">
                    <a16:rowId xmlns:a16="http://schemas.microsoft.com/office/drawing/2014/main" val="3135216518"/>
                  </a:ext>
                </a:extLst>
              </a:tr>
              <a:tr h="1494062">
                <a:tc>
                  <a:txBody>
                    <a:bodyPr/>
                    <a:lstStyle/>
                    <a:p>
                      <a:r>
                        <a:rPr lang="en-US" sz="2400" dirty="0"/>
                        <a:t>When you have some exposure</a:t>
                      </a:r>
                      <a:endParaRPr lang="en-IN" sz="2400" dirty="0"/>
                    </a:p>
                  </a:txBody>
                  <a:tcPr/>
                </a:tc>
                <a:extLst>
                  <a:ext uri="{0D108BD9-81ED-4DB2-BD59-A6C34878D82A}">
                    <a16:rowId xmlns:a16="http://schemas.microsoft.com/office/drawing/2014/main" val="2617317757"/>
                  </a:ext>
                </a:extLst>
              </a:tr>
              <a:tr h="1494062">
                <a:tc>
                  <a:txBody>
                    <a:bodyPr/>
                    <a:lstStyle/>
                    <a:p>
                      <a:r>
                        <a:rPr lang="en-US" sz="2400" dirty="0"/>
                        <a:t>When you just don’t know</a:t>
                      </a:r>
                      <a:endParaRPr lang="en-IN" sz="2400" dirty="0"/>
                    </a:p>
                  </a:txBody>
                  <a:tcPr/>
                </a:tc>
                <a:extLst>
                  <a:ext uri="{0D108BD9-81ED-4DB2-BD59-A6C34878D82A}">
                    <a16:rowId xmlns:a16="http://schemas.microsoft.com/office/drawing/2014/main" val="4002863540"/>
                  </a:ext>
                </a:extLst>
              </a:tr>
            </a:tbl>
          </a:graphicData>
        </a:graphic>
      </p:graphicFrame>
      <p:sp>
        <p:nvSpPr>
          <p:cNvPr id="5" name="Notched Right Arrow 4"/>
          <p:cNvSpPr/>
          <p:nvPr/>
        </p:nvSpPr>
        <p:spPr>
          <a:xfrm>
            <a:off x="5238427" y="1557126"/>
            <a:ext cx="6416298" cy="1783916"/>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Notched Right Arrow 5"/>
          <p:cNvSpPr/>
          <p:nvPr/>
        </p:nvSpPr>
        <p:spPr>
          <a:xfrm>
            <a:off x="5238427" y="3341042"/>
            <a:ext cx="6416298" cy="1757900"/>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Notched Right Arrow 6"/>
          <p:cNvSpPr/>
          <p:nvPr/>
        </p:nvSpPr>
        <p:spPr>
          <a:xfrm>
            <a:off x="5238427" y="4991396"/>
            <a:ext cx="6416298" cy="1624338"/>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custDataLst>
      <p:tags r:id="rId1"/>
    </p:custDataLst>
    <p:extLst>
      <p:ext uri="{BB962C8B-B14F-4D97-AF65-F5344CB8AC3E}">
        <p14:creationId xmlns:p14="http://schemas.microsoft.com/office/powerpoint/2010/main" val="5029059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8000" b="1" dirty="0"/>
              <a:t>Thank you</a:t>
            </a:r>
            <a:endParaRPr lang="en-IN" sz="8000" b="1" dirty="0"/>
          </a:p>
        </p:txBody>
      </p:sp>
    </p:spTree>
    <p:custDataLst>
      <p:tags r:id="rId1"/>
    </p:custDataLst>
    <p:extLst>
      <p:ext uri="{BB962C8B-B14F-4D97-AF65-F5344CB8AC3E}">
        <p14:creationId xmlns:p14="http://schemas.microsoft.com/office/powerpoint/2010/main" val="37663342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6"/>
  <p:tag name="ARTICULATE_DESIGN_ID_MESH" val="vt4iyW5B"/>
  <p:tag name="ARTICULATE_DESIGN_ID_MAIN EVENT" val="ho15XG0S"/>
  <p:tag name="ARTICULATE_DESIGN_ID_ORGANIC" val="KqecC2yA"/>
  <p:tag name="ARTICULATE_DESIGN_ID_ION" val="qnt9Mhze"/>
  <p:tag name="ARTICULATE_DESIGN_ID_ION BOARDROOM" val="ot1w1Bfn"/>
  <p:tag name="ARTICULATE_DESIGN_ID_OFFICE THEME" val="vgmoRD3V"/>
  <p:tag name="ARTICULATE_DESIGN_ID_FACET" val="W92Z0Yda"/>
  <p:tag name="ARTICULATE_SLIDE_THUMBNAIL_REFRESH" val="1"/>
  <p:tag name="ARTICULATE_DESIGN_ID_INTEGRAL" val="j8j0g3ya"/>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491</TotalTime>
  <Words>1557</Words>
  <Application>Microsoft Office PowerPoint</Application>
  <PresentationFormat>Widescreen</PresentationFormat>
  <Paragraphs>192</Paragraphs>
  <Slides>26</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Gill Sans MT</vt:lpstr>
      <vt:lpstr>Gallery</vt:lpstr>
      <vt:lpstr>Interview clinic</vt:lpstr>
      <vt:lpstr>Program objectives</vt:lpstr>
      <vt:lpstr>Part-1</vt:lpstr>
      <vt:lpstr>PowerPoint Presentation</vt:lpstr>
      <vt:lpstr>Things to consider</vt:lpstr>
      <vt:lpstr>Typical questions for researching a client</vt:lpstr>
      <vt:lpstr>Knowing the client helps you orient your expertise to their requirements</vt:lpstr>
      <vt:lpstr>PowerPoint Presentation</vt:lpstr>
      <vt:lpstr>PowerPoint Presentation</vt:lpstr>
      <vt:lpstr>How to prepare an Effective Resume? </vt:lpstr>
      <vt:lpstr>Check your resume</vt:lpstr>
      <vt:lpstr>Four things that your resume must sum up </vt:lpstr>
      <vt:lpstr>PowerPoint Presentation</vt:lpstr>
      <vt:lpstr>Discuss</vt:lpstr>
      <vt:lpstr>Script your introduction- Give a snapshot of yourself</vt:lpstr>
      <vt:lpstr>Tip: Use verbs that sound dynamic</vt:lpstr>
      <vt:lpstr>Tip : keep your sentences short and to the point</vt:lpstr>
      <vt:lpstr>Prepare your introduction</vt:lpstr>
      <vt:lpstr>PowerPoint Presentation</vt:lpstr>
      <vt:lpstr>Practice your introduction</vt:lpstr>
      <vt:lpstr>PART-III Ace your interview</vt:lpstr>
      <vt:lpstr>STAR technique</vt:lpstr>
      <vt:lpstr>Activity :-Using the STAR method Tell me about a time you….</vt:lpstr>
      <vt:lpstr>Part IV- Handling Questions</vt:lpstr>
      <vt:lpstr>What would you say?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Interview clinic</dc:title>
  <dc:creator>Akash</dc:creator>
  <cp:lastModifiedBy>Gayathri G</cp:lastModifiedBy>
  <cp:revision>44</cp:revision>
  <dcterms:created xsi:type="dcterms:W3CDTF">2024-03-15T04:14:34Z</dcterms:created>
  <dcterms:modified xsi:type="dcterms:W3CDTF">2025-05-29T07:18:08Z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6EF45602-D703-4CFC-AF7A-9308FA36394B</vt:lpwstr>
  </property>
  <property fmtid="{D5CDD505-2E9C-101B-9397-08002B2CF9AE}" pid="3" name="ArticulatePath">
    <vt:lpwstr>Presentation1</vt:lpwstr>
  </property>
</Properties>
</file>