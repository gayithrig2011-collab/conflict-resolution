
<file path=[Content_Types].xml><?xml version="1.0" encoding="utf-8"?>
<Types xmlns="http://schemas.openxmlformats.org/package/2006/content-types">
  <Default Extension="jpeg" ContentType="image/jpe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7" r:id="rId3"/>
    <p:sldId id="258" r:id="rId4"/>
    <p:sldId id="260" r:id="rId5"/>
    <p:sldId id="273" r:id="rId6"/>
    <p:sldId id="264" r:id="rId7"/>
    <p:sldId id="265" r:id="rId8"/>
    <p:sldId id="272" r:id="rId9"/>
    <p:sldId id="267" r:id="rId10"/>
    <p:sldId id="268" r:id="rId11"/>
    <p:sldId id="271" r:id="rId12"/>
    <p:sldId id="276" r:id="rId13"/>
    <p:sldId id="277" r:id="rId14"/>
    <p:sldId id="278" r:id="rId15"/>
    <p:sldId id="281" r:id="rId16"/>
    <p:sldId id="283" r:id="rId17"/>
    <p:sldId id="289" r:id="rId18"/>
    <p:sldId id="290" r:id="rId19"/>
    <p:sldId id="291" r:id="rId20"/>
    <p:sldId id="296" r:id="rId21"/>
    <p:sldId id="287" r:id="rId22"/>
    <p:sldId id="298" r:id="rId23"/>
    <p:sldId id="299" r:id="rId24"/>
    <p:sldId id="300" r:id="rId25"/>
    <p:sldId id="301" r:id="rId26"/>
    <p:sldId id="302" r:id="rId27"/>
    <p:sldId id="303" r:id="rId28"/>
    <p:sldId id="30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8"/>
          <p:cNvSpPr txBox="1">
            <a:spLocks noChangeArrowheads="1"/>
          </p:cNvSpPr>
          <p:nvPr userDrawn="1"/>
        </p:nvSpPr>
        <p:spPr bwMode="auto">
          <a:xfrm>
            <a:off x="8660575" y="6433923"/>
            <a:ext cx="3274484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9A9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 defTabSz="457200" eaLnBrk="1" fontAlgn="auto" hangingPunct="1">
              <a:spcBef>
                <a:spcPts val="0"/>
              </a:spcBef>
              <a:spcAft>
                <a:spcPts val="0"/>
              </a:spcAft>
            </a:pPr>
            <a:fld id="{95990F28-EF56-40AF-B6C1-2CF755EA3890}" type="slidenum">
              <a:rPr lang="en-US">
                <a:latin typeface="+mn-lt"/>
              </a:rPr>
            </a:fld>
            <a:r>
              <a:rPr lang="en-US" dirty="0">
                <a:latin typeface="+mn-lt"/>
              </a:rPr>
              <a:t> </a:t>
            </a:r>
            <a:endParaRPr lang="en-US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303681"/>
            <a:ext cx="1806363" cy="478418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0" y="6792736"/>
            <a:ext cx="12192000" cy="6978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" name="Text Box 18"/>
          <p:cNvSpPr txBox="1">
            <a:spLocks noChangeArrowheads="1"/>
          </p:cNvSpPr>
          <p:nvPr userDrawn="1"/>
        </p:nvSpPr>
        <p:spPr bwMode="auto">
          <a:xfrm>
            <a:off x="8660575" y="6433923"/>
            <a:ext cx="3274484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9A9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 defTabSz="457200" eaLnBrk="1" fontAlgn="auto" hangingPunct="1">
              <a:spcBef>
                <a:spcPts val="0"/>
              </a:spcBef>
              <a:spcAft>
                <a:spcPts val="0"/>
              </a:spcAft>
            </a:pPr>
            <a:fld id="{95990F28-EF56-40AF-B6C1-2CF755EA3890}" type="slidenum">
              <a:rPr lang="en-US">
                <a:latin typeface="+mn-lt"/>
              </a:rPr>
            </a:fld>
            <a:r>
              <a:rPr lang="en-US" dirty="0">
                <a:latin typeface="+mn-lt"/>
              </a:rPr>
              <a:t> </a:t>
            </a:r>
            <a:endParaRPr lang="en-US" dirty="0">
              <a:latin typeface="+mn-lt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6110868"/>
            <a:ext cx="12192000" cy="74713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785325"/>
            <a:ext cx="12192000" cy="697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srgbClr val="FFFFFF"/>
              </a:solidFill>
              <a:latin typeface="+mn-lt"/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09557" y="771523"/>
            <a:ext cx="117255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92300" y="306044"/>
            <a:ext cx="11434033" cy="452438"/>
          </a:xfrm>
          <a:prstGeom prst="rect">
            <a:avLst/>
          </a:prstGeom>
        </p:spPr>
        <p:txBody>
          <a:bodyPr lIns="0" anchor="b"/>
          <a:lstStyle>
            <a:lvl1pPr marL="0" indent="0">
              <a:buFont typeface="Arial" panose="020B0604020202020204" pitchFamily="34" charset="0"/>
              <a:buNone/>
              <a:defRPr sz="22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>
              <a:buClrTx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Tx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Tx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Tx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2" name="Text Box 18"/>
          <p:cNvSpPr txBox="1">
            <a:spLocks noChangeArrowheads="1"/>
          </p:cNvSpPr>
          <p:nvPr userDrawn="1"/>
        </p:nvSpPr>
        <p:spPr bwMode="auto">
          <a:xfrm>
            <a:off x="8793929" y="5819539"/>
            <a:ext cx="3274484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9A9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 defTabSz="457200" eaLnBrk="1" fontAlgn="auto" hangingPunct="1">
              <a:spcBef>
                <a:spcPts val="0"/>
              </a:spcBef>
              <a:spcAft>
                <a:spcPts val="0"/>
              </a:spcAft>
            </a:pPr>
            <a:fld id="{95990F28-EF56-40AF-B6C1-2CF755EA3890}" type="slidenum">
              <a:rPr lang="en-US">
                <a:latin typeface="+mn-lt"/>
              </a:rPr>
            </a:fld>
            <a:r>
              <a:rPr lang="en-US" dirty="0">
                <a:latin typeface="+mn-lt"/>
              </a:rPr>
              <a:t> </a:t>
            </a:r>
            <a:endParaRPr lang="en-US" dirty="0">
              <a:latin typeface="+mn-lt"/>
            </a:endParaRP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78983" y="6096539"/>
            <a:ext cx="11434033" cy="685560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buClrTx/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buClrTx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Tx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Tx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Tx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24933" y="1249363"/>
            <a:ext cx="9772651" cy="3736975"/>
          </a:xfrm>
          <a:prstGeom prst="rect">
            <a:avLst/>
          </a:prstGeom>
        </p:spPr>
        <p:txBody>
          <a:bodyPr lIns="0"/>
          <a:lstStyle>
            <a:lvl1pPr marL="0" indent="0">
              <a:buClrTx/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285750" indent="0">
              <a:buClrTx/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buClrTx/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3pPr>
            <a:lvl4pPr marL="1371600" indent="0">
              <a:buClrTx/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4pPr>
            <a:lvl5pPr marL="1828800" indent="0">
              <a:buClrTx/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" y="5638800"/>
            <a:ext cx="1805141" cy="4784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hree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8"/>
          <p:cNvSpPr txBox="1">
            <a:spLocks noChangeArrowheads="1"/>
          </p:cNvSpPr>
          <p:nvPr userDrawn="1"/>
        </p:nvSpPr>
        <p:spPr bwMode="auto">
          <a:xfrm>
            <a:off x="8793929" y="6433923"/>
            <a:ext cx="3274484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9A9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 defTabSz="457200" eaLnBrk="1" fontAlgn="auto" hangingPunct="1">
              <a:spcBef>
                <a:spcPts val="0"/>
              </a:spcBef>
              <a:spcAft>
                <a:spcPts val="0"/>
              </a:spcAft>
            </a:pPr>
            <a:fld id="{95990F28-EF56-40AF-B6C1-2CF755EA3890}" type="slidenum">
              <a:rPr lang="en-US"/>
            </a:fld>
            <a:r>
              <a:rPr lang="en-US" dirty="0"/>
              <a:t> </a:t>
            </a: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6792736"/>
            <a:ext cx="12192000" cy="6978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92300" y="306044"/>
            <a:ext cx="11434033" cy="452438"/>
          </a:xfrm>
          <a:prstGeom prst="rect">
            <a:avLst/>
          </a:prstGeom>
        </p:spPr>
        <p:txBody>
          <a:bodyPr lIns="0" anchor="b"/>
          <a:lstStyle>
            <a:lvl1pPr marL="0" indent="0">
              <a:buNone/>
              <a:defRPr lang="en-US" sz="2200">
                <a:latin typeface="+mj-lt"/>
                <a:cs typeface="Arial" panose="020B0604020202020204" pitchFamily="34" charset="0"/>
              </a:defRPr>
            </a:lvl1pPr>
          </a:lstStyle>
          <a:p>
            <a:pPr marL="342900" lvl="0" indent="-342900"/>
            <a:r>
              <a:rPr lang="en-US"/>
              <a:t>Edit Master text styles</a:t>
            </a:r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09557" y="771523"/>
            <a:ext cx="117255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/>
          <p:cNvSpPr>
            <a:spLocks noGrp="1"/>
          </p:cNvSpPr>
          <p:nvPr>
            <p:ph type="body" sz="quarter" idx="11"/>
          </p:nvPr>
        </p:nvSpPr>
        <p:spPr>
          <a:xfrm>
            <a:off x="0" y="1066800"/>
            <a:ext cx="3657600" cy="1401063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2"/>
          </p:nvPr>
        </p:nvSpPr>
        <p:spPr>
          <a:xfrm>
            <a:off x="0" y="2776361"/>
            <a:ext cx="3657600" cy="1401063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0" y="4498152"/>
            <a:ext cx="3657600" cy="1401063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7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3657600" y="1066800"/>
            <a:ext cx="8534400" cy="1401063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8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3657600" y="2776361"/>
            <a:ext cx="8534400" cy="1401063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9" name="Text Placeholder 20"/>
          <p:cNvSpPr>
            <a:spLocks noGrp="1"/>
          </p:cNvSpPr>
          <p:nvPr>
            <p:ph type="body" sz="quarter" idx="17"/>
          </p:nvPr>
        </p:nvSpPr>
        <p:spPr>
          <a:xfrm>
            <a:off x="3657600" y="4498152"/>
            <a:ext cx="8534400" cy="1401063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" y="6303681"/>
            <a:ext cx="1805141" cy="4784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8"/>
          <p:cNvSpPr txBox="1">
            <a:spLocks noChangeArrowheads="1"/>
          </p:cNvSpPr>
          <p:nvPr userDrawn="1"/>
        </p:nvSpPr>
        <p:spPr bwMode="auto">
          <a:xfrm>
            <a:off x="8793929" y="6433923"/>
            <a:ext cx="3274484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9A99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 defTabSz="457200" eaLnBrk="1" fontAlgn="auto" hangingPunct="1">
              <a:spcBef>
                <a:spcPts val="0"/>
              </a:spcBef>
              <a:spcAft>
                <a:spcPts val="0"/>
              </a:spcAft>
            </a:pPr>
            <a:fld id="{95990F28-EF56-40AF-B6C1-2CF755EA3890}" type="slidenum">
              <a:rPr lang="en-US"/>
            </a:fld>
            <a:r>
              <a:rPr lang="en-US" dirty="0"/>
              <a:t> </a:t>
            </a: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6792736"/>
            <a:ext cx="12192000" cy="6978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92300" y="306044"/>
            <a:ext cx="11434033" cy="452438"/>
          </a:xfrm>
          <a:prstGeom prst="rect">
            <a:avLst/>
          </a:prstGeom>
        </p:spPr>
        <p:txBody>
          <a:bodyPr lIns="0" anchor="b"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>
              <a:buClrTx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Tx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Tx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Tx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09557" y="771523"/>
            <a:ext cx="117255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 bwMode="auto">
          <a:xfrm>
            <a:off x="6096000" y="1143000"/>
            <a:ext cx="0" cy="5715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203200" y="1295400"/>
            <a:ext cx="5499100" cy="48006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03225" indent="-285750">
              <a:buFont typeface="Arial" panose="020B0604020202020204" pitchFamily="34" charset="0"/>
              <a:buChar char="•"/>
              <a:defRPr lang="en-US" sz="1600" dirty="0" smtClean="0">
                <a:solidFill>
                  <a:schemeClr val="tx1"/>
                </a:solidFill>
                <a:latin typeface="+mn-lt"/>
              </a:defRPr>
            </a:lvl2pPr>
            <a:lvl3pPr marL="742950" indent="-285750">
              <a:buFont typeface="Arial" panose="020B0604020202020204" pitchFamily="34" charset="0"/>
              <a:buChar char="•"/>
              <a:defRPr lang="en-US" sz="1600" dirty="0">
                <a:solidFill>
                  <a:schemeClr val="tx1"/>
                </a:solidFill>
                <a:latin typeface="+mn-lt"/>
              </a:defRPr>
            </a:lvl3pPr>
            <a:lvl4pPr marL="1657350" indent="-285750">
              <a:buFont typeface="Arial" panose="020B0604020202020204" pitchFamily="34" charset="0"/>
              <a:buChar char="•"/>
              <a:defRPr sz="1600"/>
            </a:lvl4pPr>
            <a:lvl5pPr marL="2114550" indent="-2857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400800" y="1295400"/>
            <a:ext cx="5499100" cy="48006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03225" indent="-285750">
              <a:buFont typeface="Arial" panose="020B0604020202020204" pitchFamily="34" charset="0"/>
              <a:buChar char="•"/>
              <a:defRPr lang="en-US" sz="1600" dirty="0" smtClean="0">
                <a:solidFill>
                  <a:schemeClr val="tx1"/>
                </a:solidFill>
                <a:latin typeface="+mn-lt"/>
              </a:defRPr>
            </a:lvl2pPr>
            <a:lvl3pPr marL="742950" indent="-285750">
              <a:buFont typeface="Arial" panose="020B0604020202020204" pitchFamily="34" charset="0"/>
              <a:buChar char="•"/>
              <a:defRPr lang="en-US" sz="1600" dirty="0">
                <a:solidFill>
                  <a:schemeClr val="tx1"/>
                </a:solidFill>
                <a:latin typeface="+mn-lt"/>
              </a:defRPr>
            </a:lvl3pPr>
            <a:lvl4pPr marL="1657350" indent="-285750">
              <a:buFont typeface="Arial" panose="020B0604020202020204" pitchFamily="34" charset="0"/>
              <a:buChar char="•"/>
              <a:defRPr sz="1600"/>
            </a:lvl4pPr>
            <a:lvl5pPr marL="2114550" indent="-2857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-1" y="771525"/>
            <a:ext cx="6095999" cy="371475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FontTx/>
              <a:buNone/>
              <a:defRPr/>
            </a:lvl2pPr>
            <a:lvl3pPr marL="914400" indent="0" algn="ctr">
              <a:buFontTx/>
              <a:buNone/>
              <a:defRPr/>
            </a:lvl3pPr>
            <a:lvl4pPr marL="1371600" indent="0" algn="ctr">
              <a:buFontTx/>
              <a:buNone/>
              <a:defRPr/>
            </a:lvl4pPr>
            <a:lvl5pPr marL="1828800" indent="0" algn="ctr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6102349" y="771525"/>
            <a:ext cx="6095999" cy="371475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FontTx/>
              <a:buNone/>
              <a:defRPr/>
            </a:lvl2pPr>
            <a:lvl3pPr marL="914400" indent="0" algn="ctr">
              <a:buFontTx/>
              <a:buNone/>
              <a:defRPr/>
            </a:lvl3pPr>
            <a:lvl4pPr marL="1371600" indent="0" algn="ctr">
              <a:buFontTx/>
              <a:buNone/>
              <a:defRPr/>
            </a:lvl4pPr>
            <a:lvl5pPr marL="1828800" indent="0" algn="ctr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" y="6303681"/>
            <a:ext cx="1805141" cy="4784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208777" y="6275930"/>
            <a:ext cx="11755149" cy="516876"/>
            <a:chOff x="272695" y="6000164"/>
            <a:chExt cx="8816362" cy="516876"/>
          </a:xfrm>
        </p:grpSpPr>
        <p:sp>
          <p:nvSpPr>
            <p:cNvPr id="3" name="Rectangle 2"/>
            <p:cNvSpPr/>
            <p:nvPr/>
          </p:nvSpPr>
          <p:spPr>
            <a:xfrm>
              <a:off x="9006164" y="6256567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8888370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8770575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8652782" y="6256567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8534986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8417193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8299398" y="6000164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181604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063810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946015" y="6126508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828221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710427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592633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74839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357045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239249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121456" y="6000164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03661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885867" y="6126508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768073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650278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532484" y="6126508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414690" y="6256567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981967" y="6126508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864169" y="6256567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746375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628580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510787" y="6256567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392991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275198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57403" y="6000164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039609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921815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804020" y="6126508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686226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568432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450638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332844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215050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97254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979461" y="6000164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861666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743872" y="6126508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26078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08283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90489" y="6126508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72695" y="6256567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565410" y="6126508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447612" y="6256567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329818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5212024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5094229" y="6256567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976435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858640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740846" y="6000164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623052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4505257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387463" y="6126508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4269669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151875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034081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3916286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3798492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3680698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562903" y="6000164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3445110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3327314" y="6126508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209521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091726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6275045" y="6258031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157251" y="6001628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039457" y="6258031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5921662" y="6127972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5803868" y="6258031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5686073" y="6258031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78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240367" y="1249363"/>
            <a:ext cx="9568884" cy="788987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None/>
              <a:defRPr>
                <a:solidFill>
                  <a:schemeClr val="bg1"/>
                </a:solidFill>
                <a:latin typeface="+mj-lt"/>
              </a:defRPr>
            </a:lvl1pPr>
            <a:lvl2pPr>
              <a:buClrTx/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buClrTx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505" y="1408708"/>
            <a:ext cx="5535311" cy="1467027"/>
          </a:xfrm>
          <a:prstGeom prst="rect">
            <a:avLst/>
          </a:prstGeom>
        </p:spPr>
      </p:pic>
      <p:grpSp>
        <p:nvGrpSpPr>
          <p:cNvPr id="3" name="Group 2"/>
          <p:cNvGrpSpPr/>
          <p:nvPr userDrawn="1"/>
        </p:nvGrpSpPr>
        <p:grpSpPr>
          <a:xfrm>
            <a:off x="208777" y="6275930"/>
            <a:ext cx="11755149" cy="516876"/>
            <a:chOff x="272695" y="6000164"/>
            <a:chExt cx="8816362" cy="516876"/>
          </a:xfrm>
        </p:grpSpPr>
        <p:sp>
          <p:nvSpPr>
            <p:cNvPr id="4" name="Rectangle 3"/>
            <p:cNvSpPr/>
            <p:nvPr/>
          </p:nvSpPr>
          <p:spPr>
            <a:xfrm>
              <a:off x="9006164" y="6256567"/>
              <a:ext cx="82893" cy="2590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8888370" y="6256567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8770575" y="6126508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8652782" y="6256567"/>
              <a:ext cx="82893" cy="259009"/>
            </a:xfrm>
            <a:prstGeom prst="rect">
              <a:avLst/>
            </a:prstGeom>
            <a:solidFill>
              <a:srgbClr val="F1C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8534986" y="6126508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8417193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299398" y="6000164"/>
              <a:ext cx="82893" cy="259009"/>
            </a:xfrm>
            <a:prstGeom prst="rect">
              <a:avLst/>
            </a:prstGeom>
            <a:solidFill>
              <a:srgbClr val="F1C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181604" y="6126508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063810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946015" y="6126508"/>
              <a:ext cx="82893" cy="2590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828221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710427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592633" y="6126508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474839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357045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239249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121456" y="6000164"/>
              <a:ext cx="82893" cy="2590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003661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885867" y="6126508"/>
              <a:ext cx="82893" cy="259009"/>
            </a:xfrm>
            <a:prstGeom prst="rect">
              <a:avLst/>
            </a:prstGeom>
            <a:solidFill>
              <a:srgbClr val="F1C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768073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650278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532484" y="6126508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414690" y="6256567"/>
              <a:ext cx="82893" cy="2590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981967" y="6126508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864169" y="6256567"/>
              <a:ext cx="82893" cy="2590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746375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628580" y="6126508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510787" y="6256567"/>
              <a:ext cx="82893" cy="259009"/>
            </a:xfrm>
            <a:prstGeom prst="rect">
              <a:avLst/>
            </a:prstGeom>
            <a:solidFill>
              <a:srgbClr val="F1C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392991" y="6126508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275198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157403" y="6000164"/>
              <a:ext cx="82893" cy="259009"/>
            </a:xfrm>
            <a:prstGeom prst="rect">
              <a:avLst/>
            </a:prstGeom>
            <a:solidFill>
              <a:srgbClr val="F1C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039609" y="6126508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921815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804020" y="6126508"/>
              <a:ext cx="82893" cy="2590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686226" y="6256567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568432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450638" y="6126508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332844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215050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097254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979461" y="6000164"/>
              <a:ext cx="82893" cy="2590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861666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43872" y="6126508"/>
              <a:ext cx="82893" cy="259009"/>
            </a:xfrm>
            <a:prstGeom prst="rect">
              <a:avLst/>
            </a:prstGeom>
            <a:solidFill>
              <a:srgbClr val="F1C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26078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08283" y="6256567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90489" y="6126508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272695" y="6256567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565410" y="6126508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447612" y="6256567"/>
              <a:ext cx="82893" cy="2590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5329818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5212024" y="6126508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5094229" y="6256567"/>
              <a:ext cx="82893" cy="259009"/>
            </a:xfrm>
            <a:prstGeom prst="rect">
              <a:avLst/>
            </a:prstGeom>
            <a:solidFill>
              <a:srgbClr val="F1C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976435" y="6126508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858640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740846" y="6000164"/>
              <a:ext cx="82893" cy="259009"/>
            </a:xfrm>
            <a:prstGeom prst="rect">
              <a:avLst/>
            </a:prstGeom>
            <a:solidFill>
              <a:srgbClr val="F1C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4623052" y="6126508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505257" y="6256567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4387463" y="6126508"/>
              <a:ext cx="82893" cy="2590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269669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151875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034081" y="6126508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3916286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3798492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680698" y="6256567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3562903" y="6000164"/>
              <a:ext cx="82893" cy="2590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3445110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327314" y="6126508"/>
              <a:ext cx="82893" cy="259009"/>
            </a:xfrm>
            <a:prstGeom prst="rect">
              <a:avLst/>
            </a:prstGeom>
            <a:solidFill>
              <a:srgbClr val="F1C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209521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3091726" y="6256567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275045" y="6258031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157251" y="600162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6039457" y="6258031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5921662" y="6127972"/>
              <a:ext cx="82893" cy="259009"/>
            </a:xfrm>
            <a:prstGeom prst="rect">
              <a:avLst/>
            </a:prstGeom>
            <a:solidFill>
              <a:srgbClr val="F1C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5803868" y="6258031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5686073" y="6258031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 userDrawn="1"/>
        </p:nvSpPr>
        <p:spPr>
          <a:xfrm>
            <a:off x="528485" y="407605"/>
            <a:ext cx="4122548" cy="430887"/>
          </a:xfrm>
          <a:prstGeom prst="rect">
            <a:avLst/>
          </a:prstGeom>
        </p:spPr>
        <p:txBody>
          <a:bodyPr lIns="0" anchor="b"/>
          <a:lstStyle>
            <a:defPPr>
              <a:defRPr lang="en-US"/>
            </a:defPPr>
            <a:lvl1pPr marL="0" lvl="0" indent="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>
                <a:latin typeface="+mj-lt"/>
                <a:cs typeface="Arial" panose="020B0604020202020204" pitchFamily="34" charset="0"/>
              </a:defRPr>
            </a:lvl1pPr>
            <a:lvl2pPr marL="742950" indent="-285750" eaLnBrk="1" hangingPunct="1">
              <a:spcBef>
                <a:spcPct val="20000"/>
              </a:spcBef>
              <a:buClrTx/>
              <a:buSzPct val="55000"/>
              <a:buFont typeface="Wingdings" panose="05000000000000000000" pitchFamily="2" charset="2"/>
              <a:buChar char="n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1" hangingPunct="1">
              <a:spcBef>
                <a:spcPct val="20000"/>
              </a:spcBef>
              <a:buClrTx/>
              <a:buSzPct val="50000"/>
              <a:buFont typeface="Wingdings" panose="05000000000000000000" pitchFamily="2" charset="2"/>
              <a:buChar char="n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1" hangingPunct="1">
              <a:spcBef>
                <a:spcPct val="20000"/>
              </a:spcBef>
              <a:buClrTx/>
              <a:buSzPct val="55000"/>
              <a:buFont typeface="Wingdings" panose="05000000000000000000" pitchFamily="2" charset="2"/>
              <a:buChar char="n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1" hangingPunct="1">
              <a:spcBef>
                <a:spcPct val="20000"/>
              </a:spcBef>
              <a:buClrTx/>
              <a:buSzPct val="50000"/>
              <a:buFont typeface="Wingdings" panose="05000000000000000000" pitchFamily="2" charset="2"/>
              <a:buChar char="n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+mn-lt"/>
              </a:defRPr>
            </a:lvl9pPr>
          </a:lstStyle>
          <a:p>
            <a:pPr lvl="0"/>
            <a:r>
              <a:rPr lang="en-US" sz="3200" dirty="0"/>
              <a:t>Content</a:t>
            </a:r>
            <a:endParaRPr lang="en-US" sz="3200" dirty="0"/>
          </a:p>
        </p:txBody>
      </p:sp>
      <p:sp>
        <p:nvSpPr>
          <p:cNvPr id="80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85225" y="1600200"/>
            <a:ext cx="11154059" cy="2486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344805" indent="-342900"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798830" indent="-342900"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 marL="1201420" indent="-342900"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 marL="1603375" indent="-342900"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1" name="Picture 8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481" y="157107"/>
            <a:ext cx="3313183" cy="878095"/>
          </a:xfrm>
          <a:prstGeom prst="rect">
            <a:avLst/>
          </a:prstGeom>
        </p:spPr>
      </p:pic>
      <p:grpSp>
        <p:nvGrpSpPr>
          <p:cNvPr id="82" name="Group 81"/>
          <p:cNvGrpSpPr/>
          <p:nvPr userDrawn="1"/>
        </p:nvGrpSpPr>
        <p:grpSpPr>
          <a:xfrm>
            <a:off x="208777" y="6275930"/>
            <a:ext cx="11755149" cy="516876"/>
            <a:chOff x="272695" y="6000164"/>
            <a:chExt cx="8816362" cy="516876"/>
          </a:xfrm>
        </p:grpSpPr>
        <p:sp>
          <p:nvSpPr>
            <p:cNvPr id="83" name="Rectangle 82"/>
            <p:cNvSpPr/>
            <p:nvPr/>
          </p:nvSpPr>
          <p:spPr>
            <a:xfrm>
              <a:off x="9006164" y="6256567"/>
              <a:ext cx="82893" cy="2590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8888370" y="6256567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8770575" y="6126508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8652782" y="6256567"/>
              <a:ext cx="82893" cy="259009"/>
            </a:xfrm>
            <a:prstGeom prst="rect">
              <a:avLst/>
            </a:prstGeom>
            <a:solidFill>
              <a:srgbClr val="F1C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8534986" y="6126508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8417193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8299398" y="6000164"/>
              <a:ext cx="82893" cy="259009"/>
            </a:xfrm>
            <a:prstGeom prst="rect">
              <a:avLst/>
            </a:prstGeom>
            <a:solidFill>
              <a:srgbClr val="F1C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8181604" y="6126508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8063810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7946015" y="6126508"/>
              <a:ext cx="82893" cy="2590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7828221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7710427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95" name="Rectangle 94"/>
            <p:cNvSpPr/>
            <p:nvPr/>
          </p:nvSpPr>
          <p:spPr>
            <a:xfrm>
              <a:off x="7592633" y="6126508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7474839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7357045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7239249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7121456" y="6000164"/>
              <a:ext cx="82893" cy="2590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7003661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885867" y="6126508"/>
              <a:ext cx="82893" cy="259009"/>
            </a:xfrm>
            <a:prstGeom prst="rect">
              <a:avLst/>
            </a:prstGeom>
            <a:solidFill>
              <a:srgbClr val="F1C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6768073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6650278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6532484" y="6126508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6414690" y="6256567"/>
              <a:ext cx="82893" cy="2590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2981967" y="6126508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864169" y="6256567"/>
              <a:ext cx="82893" cy="2590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2746375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2628580" y="6126508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2510787" y="6256567"/>
              <a:ext cx="82893" cy="259009"/>
            </a:xfrm>
            <a:prstGeom prst="rect">
              <a:avLst/>
            </a:prstGeom>
            <a:solidFill>
              <a:srgbClr val="F1C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2392991" y="6126508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2275198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2157403" y="6000164"/>
              <a:ext cx="82893" cy="259009"/>
            </a:xfrm>
            <a:prstGeom prst="rect">
              <a:avLst/>
            </a:prstGeom>
            <a:solidFill>
              <a:srgbClr val="F1C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2039609" y="6126508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1921815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1804020" y="6126508"/>
              <a:ext cx="82893" cy="2590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1686226" y="6256567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1568432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1450638" y="6126508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1332844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1215050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1097254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979461" y="6000164"/>
              <a:ext cx="82893" cy="2590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861666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743872" y="6126508"/>
              <a:ext cx="82893" cy="259009"/>
            </a:xfrm>
            <a:prstGeom prst="rect">
              <a:avLst/>
            </a:prstGeom>
            <a:solidFill>
              <a:srgbClr val="F1C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626078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508283" y="6256567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390489" y="6126508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272695" y="6256567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5565410" y="6126508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5447612" y="6256567"/>
              <a:ext cx="82893" cy="2590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5329818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5212024" y="6126508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5094229" y="6256567"/>
              <a:ext cx="82893" cy="259009"/>
            </a:xfrm>
            <a:prstGeom prst="rect">
              <a:avLst/>
            </a:prstGeom>
            <a:solidFill>
              <a:srgbClr val="F1C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4976435" y="6126508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4858640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4740846" y="6000164"/>
              <a:ext cx="82893" cy="259009"/>
            </a:xfrm>
            <a:prstGeom prst="rect">
              <a:avLst/>
            </a:prstGeom>
            <a:solidFill>
              <a:srgbClr val="F1C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4623052" y="6126508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4505257" y="6256567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4387463" y="6126508"/>
              <a:ext cx="82893" cy="2590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4269669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4151875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4034081" y="6126508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3916286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3798492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3680698" y="6256567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3562903" y="6000164"/>
              <a:ext cx="82893" cy="2590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3445110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3327314" y="6126508"/>
              <a:ext cx="82893" cy="259009"/>
            </a:xfrm>
            <a:prstGeom prst="rect">
              <a:avLst/>
            </a:prstGeom>
            <a:solidFill>
              <a:srgbClr val="F1C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3209521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3091726" y="6256567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6275045" y="6258031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6157251" y="600162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6039457" y="6258031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5921662" y="6127972"/>
              <a:ext cx="82893" cy="259009"/>
            </a:xfrm>
            <a:prstGeom prst="rect">
              <a:avLst/>
            </a:prstGeom>
            <a:solidFill>
              <a:srgbClr val="F1C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5803868" y="6258031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5686073" y="6258031"/>
              <a:ext cx="82893" cy="259009"/>
            </a:xfrm>
            <a:prstGeom prst="rect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240367" y="1249363"/>
            <a:ext cx="9568884" cy="788987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None/>
              <a:defRPr>
                <a:solidFill>
                  <a:schemeClr val="bg1"/>
                </a:solidFill>
                <a:latin typeface="+mj-lt"/>
              </a:defRPr>
            </a:lvl1pPr>
            <a:lvl2pPr>
              <a:buClrTx/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buClrTx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grpSp>
        <p:nvGrpSpPr>
          <p:cNvPr id="155" name="Group 154"/>
          <p:cNvGrpSpPr/>
          <p:nvPr userDrawn="1"/>
        </p:nvGrpSpPr>
        <p:grpSpPr>
          <a:xfrm>
            <a:off x="208777" y="6275930"/>
            <a:ext cx="11755149" cy="516876"/>
            <a:chOff x="272695" y="6000164"/>
            <a:chExt cx="8816362" cy="516876"/>
          </a:xfrm>
        </p:grpSpPr>
        <p:sp>
          <p:nvSpPr>
            <p:cNvPr id="156" name="Rectangle 155"/>
            <p:cNvSpPr/>
            <p:nvPr/>
          </p:nvSpPr>
          <p:spPr>
            <a:xfrm>
              <a:off x="9006164" y="6256567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8888370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8770575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8652782" y="6256567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8534986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8417193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8299398" y="6000164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8181604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8063810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7946015" y="6126508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7828221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7710427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7592633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7474839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7357045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7239249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7121456" y="6000164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7003661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6885867" y="6126508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6768073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76" name="Rectangle 175"/>
            <p:cNvSpPr/>
            <p:nvPr/>
          </p:nvSpPr>
          <p:spPr>
            <a:xfrm>
              <a:off x="6650278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6532484" y="6126508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6414690" y="6256567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2981967" y="6126508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2864169" y="6256567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2746375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2628580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2510787" y="6256567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2392991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2275198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2157403" y="6000164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2039609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1921815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1804020" y="6126508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1686226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1568432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1450638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1332844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1215050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1097254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979461" y="6000164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861666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743872" y="6126508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99" name="Rectangle 198"/>
            <p:cNvSpPr/>
            <p:nvPr/>
          </p:nvSpPr>
          <p:spPr>
            <a:xfrm>
              <a:off x="626078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508283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390489" y="6126508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272695" y="6256567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5565410" y="6126508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5447612" y="6256567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05" name="Rectangle 204"/>
            <p:cNvSpPr/>
            <p:nvPr/>
          </p:nvSpPr>
          <p:spPr>
            <a:xfrm>
              <a:off x="5329818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06" name="Rectangle 205"/>
            <p:cNvSpPr/>
            <p:nvPr/>
          </p:nvSpPr>
          <p:spPr>
            <a:xfrm>
              <a:off x="5212024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5094229" y="6256567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4976435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4858640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10" name="Rectangle 209"/>
            <p:cNvSpPr/>
            <p:nvPr/>
          </p:nvSpPr>
          <p:spPr>
            <a:xfrm>
              <a:off x="4740846" y="6000164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11" name="Rectangle 210"/>
            <p:cNvSpPr/>
            <p:nvPr/>
          </p:nvSpPr>
          <p:spPr>
            <a:xfrm>
              <a:off x="4623052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12" name="Rectangle 211"/>
            <p:cNvSpPr/>
            <p:nvPr/>
          </p:nvSpPr>
          <p:spPr>
            <a:xfrm>
              <a:off x="4505257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4387463" y="6126508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4269669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15" name="Rectangle 214"/>
            <p:cNvSpPr/>
            <p:nvPr/>
          </p:nvSpPr>
          <p:spPr>
            <a:xfrm>
              <a:off x="4151875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16" name="Rectangle 215"/>
            <p:cNvSpPr/>
            <p:nvPr/>
          </p:nvSpPr>
          <p:spPr>
            <a:xfrm>
              <a:off x="4034081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17" name="Rectangle 216"/>
            <p:cNvSpPr/>
            <p:nvPr/>
          </p:nvSpPr>
          <p:spPr>
            <a:xfrm>
              <a:off x="3916286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3798492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3680698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20" name="Rectangle 219"/>
            <p:cNvSpPr/>
            <p:nvPr/>
          </p:nvSpPr>
          <p:spPr>
            <a:xfrm>
              <a:off x="3562903" y="6000164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3445110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3327314" y="6126508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3209521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3091726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6275045" y="6258031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26" name="Rectangle 225"/>
            <p:cNvSpPr/>
            <p:nvPr/>
          </p:nvSpPr>
          <p:spPr>
            <a:xfrm>
              <a:off x="6157251" y="6001628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27" name="Rectangle 226"/>
            <p:cNvSpPr/>
            <p:nvPr/>
          </p:nvSpPr>
          <p:spPr>
            <a:xfrm>
              <a:off x="6039457" y="6258031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28" name="Rectangle 227"/>
            <p:cNvSpPr/>
            <p:nvPr/>
          </p:nvSpPr>
          <p:spPr>
            <a:xfrm>
              <a:off x="5921662" y="6127972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5803868" y="6258031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30" name="Rectangle 229"/>
            <p:cNvSpPr/>
            <p:nvPr/>
          </p:nvSpPr>
          <p:spPr>
            <a:xfrm>
              <a:off x="5686073" y="6258031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208777" y="6275930"/>
            <a:ext cx="11755149" cy="516876"/>
            <a:chOff x="272695" y="6000164"/>
            <a:chExt cx="8816362" cy="516876"/>
          </a:xfrm>
        </p:grpSpPr>
        <p:sp>
          <p:nvSpPr>
            <p:cNvPr id="3" name="Rectangle 2"/>
            <p:cNvSpPr/>
            <p:nvPr/>
          </p:nvSpPr>
          <p:spPr>
            <a:xfrm>
              <a:off x="9006164" y="6256567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8888370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8770575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8652782" y="6256567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8534986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8417193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8299398" y="6000164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181604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063810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946015" y="6126508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828221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710427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592633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74839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357045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239249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121456" y="6000164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03661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885867" y="6126508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768073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650278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532484" y="6126508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414690" y="6256567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981967" y="6126508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864169" y="6256567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746375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628580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510787" y="6256567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392991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275198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57403" y="6000164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039609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921815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804020" y="6126508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686226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568432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450638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332844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215050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97254" y="6256567"/>
              <a:ext cx="82893" cy="259009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979461" y="6000164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861666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743872" y="6126508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26078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08283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90489" y="6126508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72695" y="6256567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565410" y="6126508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447612" y="6256567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329818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5212024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5094229" y="6256567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976435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858640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740846" y="6000164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623052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4505257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387463" y="6126508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4269669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151875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034081" y="6126508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3916286" y="6256567"/>
              <a:ext cx="82893" cy="25900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3798492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3680698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562903" y="6000164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3445110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3327314" y="6126508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209521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091726" y="6256567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6275045" y="6258031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157251" y="6001628"/>
              <a:ext cx="82893" cy="259009"/>
            </a:xfrm>
            <a:prstGeom prst="rect">
              <a:avLst/>
            </a:prstGeom>
            <a:solidFill>
              <a:srgbClr val="41414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039457" y="6258031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5921662" y="6127972"/>
              <a:ext cx="82893" cy="2590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5803868" y="6258031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5686073" y="6258031"/>
              <a:ext cx="82893" cy="25900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78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240367" y="1249363"/>
            <a:ext cx="9568884" cy="788987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None/>
              <a:defRPr>
                <a:solidFill>
                  <a:schemeClr val="bg1"/>
                </a:solidFill>
                <a:latin typeface="+mj-lt"/>
              </a:defRPr>
            </a:lvl1pPr>
            <a:lvl2pPr>
              <a:buClrTx/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buClrTx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14CD68"/>
            </a:gs>
            <a:gs pos="100000">
              <a:srgbClr val="035C7D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5.GI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379730" y="768350"/>
            <a:ext cx="11714480" cy="5170805"/>
          </a:xfrm>
          <a:gradFill>
            <a:gsLst>
              <a:gs pos="0">
                <a:srgbClr val="14CD68"/>
              </a:gs>
              <a:gs pos="100000">
                <a:srgbClr val="035C7D"/>
              </a:gs>
            </a:gsLst>
            <a:lin ang="5400000" scaled="0"/>
          </a:gradFill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ym typeface="+mn-ea"/>
              </a:rPr>
              <a:t>AT THE END OF THIS SESSION , YOU WILL BE ABLE TO </a:t>
            </a:r>
            <a:endParaRPr lang="en-US" sz="32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ym typeface="+mn-ea"/>
              </a:rPr>
              <a:t>UNDERSTAND WHY CONFLICTS ARISE , </a:t>
            </a:r>
            <a:r>
              <a:rPr lang="en-US" sz="3200" b="1" dirty="0" smtClean="0">
                <a:solidFill>
                  <a:srgbClr val="FFC000"/>
                </a:solidFill>
                <a:sym typeface="+mn-ea"/>
              </a:rPr>
              <a:t>BETWEEN COMPLAINANTS AND THE ACCUSED. </a:t>
            </a:r>
            <a:endParaRPr lang="en-US" sz="3200" b="1" dirty="0" smtClean="0">
              <a:solidFill>
                <a:srgbClr val="FFC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ym typeface="+mn-ea"/>
              </a:rPr>
              <a:t>ABLE TO RESOLVE THEIR CONFLICTS EFFECTIVELY.</a:t>
            </a:r>
            <a:endParaRPr lang="en-US" sz="32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rgbClr val="C00000"/>
                </a:solidFill>
                <a:sym typeface="+mn-ea"/>
              </a:rPr>
              <a:t> VARIOUS  STAGES OF CONFLICT, AND WHAT WE SHOULD DO AT EACH STAGE ! </a:t>
            </a:r>
            <a:endParaRPr lang="en-US" sz="3200" b="1" dirty="0" smtClean="0">
              <a:solidFill>
                <a:srgbClr val="C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ym typeface="+mn-ea"/>
              </a:rPr>
              <a:t>HOW PEOPLE BEHAVE IN CONFLICT SITUATIONS </a:t>
            </a:r>
            <a:endParaRPr lang="en-US" sz="32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ym typeface="+mn-ea"/>
              </a:rPr>
              <a:t>RESOLUTION METHODS AND PROCESSES. </a:t>
            </a:r>
            <a:endParaRPr lang="en-US" sz="32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2"/>
                </a:solidFill>
                <a:sym typeface="+mn-ea"/>
              </a:rPr>
              <a:t>HOW TO COOL DOWN EMOTIONS, IN POTENTIALLY CHARGED SITUATIONS. </a:t>
            </a:r>
            <a:endParaRPr lang="en-US" sz="3200" b="1" dirty="0" smtClean="0">
              <a:solidFill>
                <a:schemeClr val="accent2"/>
              </a:solidFill>
            </a:endParaRPr>
          </a:p>
          <a:p>
            <a:pPr marL="457200" indent="-457200"/>
            <a:endParaRPr lang="en-US" sz="3200" b="1" dirty="0" smtClean="0">
              <a:solidFill>
                <a:schemeClr val="accent2"/>
              </a:solidFill>
            </a:endParaRPr>
          </a:p>
          <a:p>
            <a:endParaRPr lang="en-US" sz="3200" b="1" dirty="0" smtClean="0">
              <a:solidFill>
                <a:schemeClr val="accent2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512060" y="0"/>
            <a:ext cx="752030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4400" b="1" u="sng" dirty="0" smtClean="0">
                <a:solidFill>
                  <a:schemeClr val="accent2"/>
                </a:solidFill>
                <a:sym typeface="+mn-ea"/>
              </a:rPr>
              <a:t>Learning Objectives </a:t>
            </a:r>
            <a:endParaRPr lang="en-US" sz="4400" b="1" u="sng" dirty="0" smtClean="0">
              <a:solidFill>
                <a:schemeClr val="accent2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91770" y="668020"/>
            <a:ext cx="12000865" cy="4391025"/>
          </a:xfrm>
        </p:spPr>
        <p:txBody>
          <a:bodyPr>
            <a:noAutofit/>
          </a:bodyPr>
          <a:p>
            <a:r>
              <a:rPr lang="en-US" sz="3600" b="1" dirty="0" smtClean="0">
                <a:sym typeface="+mn-ea"/>
              </a:rPr>
              <a:t>Let us take 6 relationships.   Each team will take one relationship. </a:t>
            </a:r>
            <a:endParaRPr lang="en-US" sz="3600" b="1" dirty="0" smtClean="0"/>
          </a:p>
          <a:p>
            <a:r>
              <a:rPr lang="en-US" sz="3600" b="1" dirty="0" smtClean="0">
                <a:solidFill>
                  <a:srgbClr val="FF0000"/>
                </a:solidFill>
                <a:sym typeface="+mn-ea"/>
              </a:rPr>
              <a:t>Could be 2 married brothers / hub-wife / boss-subordinate / 2 neighbors / 2 religious groups / parents-children / seniors-juniors . </a:t>
            </a:r>
            <a:endParaRPr lang="en-US" sz="3600" b="1" dirty="0" smtClean="0">
              <a:solidFill>
                <a:srgbClr val="FF0000"/>
              </a:solidFill>
            </a:endParaRPr>
          </a:p>
          <a:p>
            <a:r>
              <a:rPr lang="en-US" sz="3600" b="1" dirty="0" smtClean="0">
                <a:sym typeface="+mn-ea"/>
              </a:rPr>
              <a:t>Each team, to identity </a:t>
            </a:r>
            <a:r>
              <a:rPr lang="en-US" sz="3600" b="1" dirty="0" smtClean="0">
                <a:solidFill>
                  <a:srgbClr val="FF0000"/>
                </a:solidFill>
                <a:sym typeface="+mn-ea"/>
              </a:rPr>
              <a:t>4 potential causes </a:t>
            </a:r>
            <a:r>
              <a:rPr lang="en-US" sz="3600" b="1" dirty="0" smtClean="0">
                <a:sym typeface="+mn-ea"/>
              </a:rPr>
              <a:t>for conflicts. Regroup and discuss for 5 minutes.</a:t>
            </a:r>
            <a:endParaRPr lang="en-US" sz="3600" b="1" dirty="0" smtClean="0"/>
          </a:p>
          <a:p>
            <a:r>
              <a:rPr lang="en-US" sz="3600" b="1" dirty="0" smtClean="0">
                <a:sym typeface="+mn-ea"/>
              </a:rPr>
              <a:t>1 presenter from each group.  2 minutes.</a:t>
            </a:r>
            <a:endParaRPr lang="en-US" sz="3600" b="1" dirty="0" smtClean="0"/>
          </a:p>
          <a:p>
            <a:r>
              <a:rPr lang="en-US" sz="3600" b="1" dirty="0" smtClean="0">
                <a:solidFill>
                  <a:schemeClr val="accent2"/>
                </a:solidFill>
                <a:sym typeface="+mn-ea"/>
              </a:rPr>
              <a:t>Total time : 15 to 20 minutes.</a:t>
            </a:r>
            <a:endParaRPr lang="en-US" sz="3600" b="1" dirty="0" smtClean="0">
              <a:solidFill>
                <a:schemeClr val="accent2"/>
              </a:solidFill>
            </a:endParaRPr>
          </a:p>
          <a:p>
            <a:endParaRPr lang="en-US" sz="3600" b="1" dirty="0" smtClean="0">
              <a:solidFill>
                <a:schemeClr val="accent2"/>
              </a:solidFill>
            </a:endParaRPr>
          </a:p>
        </p:txBody>
      </p:sp>
      <p:sp>
        <p:nvSpPr>
          <p:cNvPr id="5" name="Text Placeholder 4"/>
          <p:cNvSpPr/>
          <p:nvPr>
            <p:ph type="body" sz="quarter" idx="10"/>
          </p:nvPr>
        </p:nvSpPr>
        <p:spPr>
          <a:xfrm>
            <a:off x="101600" y="116205"/>
            <a:ext cx="11624310" cy="642620"/>
          </a:xfrm>
        </p:spPr>
        <p:txBody>
          <a:bodyPr>
            <a:noAutofit/>
          </a:bodyPr>
          <a:p>
            <a:r>
              <a:rPr lang="en-US" sz="4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/>
              </a:rPr>
              <a:t>ICE BREAKER</a:t>
            </a:r>
            <a:endParaRPr lang="en-US" sz="40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3" descr="puzzle post the first word u c.jpeg"/>
          <p:cNvPicPr>
            <a:picLocks noGrp="1" noChangeAspect="1"/>
          </p:cNvPicPr>
          <p:nvPr>
            <p:ph type="pic"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052935" cy="6731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95250"/>
            <a:ext cx="12130405" cy="5631180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t">
            <a:sp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What is a conflict ?  Why do they arise between people ? </a:t>
            </a:r>
            <a:endParaRPr lang="en-US" sz="40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olidFill>
                  <a:srgbClr val="FFC000"/>
                </a:solidFill>
                <a:sym typeface="+mn-ea"/>
              </a:rPr>
              <a:t>Are Conflicts, limited to certain relatiany relationship? </a:t>
            </a:r>
            <a:endParaRPr lang="en-US" sz="4000" b="1" dirty="0" smtClean="0">
              <a:solidFill>
                <a:srgbClr val="FFC00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Examples ? </a:t>
            </a:r>
            <a:endParaRPr lang="en-US" sz="40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Conflict is Perceived differences of needs , values and goals .</a:t>
            </a:r>
            <a:endParaRPr lang="en-US" sz="40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Part of a relationships </a:t>
            </a:r>
            <a:endParaRPr lang="en-US" sz="4000" b="1" dirty="0" smtClean="0">
              <a:sym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b="1" dirty="0" smtClean="0"/>
          </a:p>
          <a:p>
            <a:pPr marL="571500" indent="-571500"/>
            <a:endParaRPr lang="en-US" sz="4000"/>
          </a:p>
        </p:txBody>
      </p:sp>
      <p:sp>
        <p:nvSpPr>
          <p:cNvPr id="4" name="Text Box 3"/>
          <p:cNvSpPr txBox="1"/>
          <p:nvPr/>
        </p:nvSpPr>
        <p:spPr>
          <a:xfrm>
            <a:off x="609600" y="5373370"/>
            <a:ext cx="632523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5400" b="1" dirty="0" smtClean="0">
                <a:solidFill>
                  <a:schemeClr val="tx1"/>
                </a:solidFill>
                <a:sym typeface="+mn-ea"/>
              </a:rPr>
              <a:t>What is a conflict ?</a:t>
            </a:r>
            <a:endParaRPr lang="en-US" sz="5400" b="1" dirty="0" smtClean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12192000" cy="5767070"/>
          </a:xfrm>
          <a:gradFill>
            <a:gsLst>
              <a:gs pos="0">
                <a:srgbClr val="14CD68"/>
              </a:gs>
              <a:gs pos="100000">
                <a:srgbClr val="035C7D"/>
              </a:gs>
            </a:gsLst>
            <a:lin ang="5400000" scaled="0"/>
          </a:gradFill>
        </p:spPr>
        <p:txBody>
          <a:bodyPr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 smtClean="0">
                <a:sym typeface="+mn-ea"/>
              </a:rPr>
              <a:t>What are the negatives of a conflict ? </a:t>
            </a:r>
            <a:endParaRPr lang="en-US" sz="4400" b="1" dirty="0" smtClean="0">
              <a:sym typeface="+mn-ea"/>
            </a:endParaRPr>
          </a:p>
          <a:p>
            <a:pPr>
              <a:buFont typeface="Arial" panose="020B0604020202020204" pitchFamily="34" charset="0"/>
            </a:pPr>
            <a:endParaRPr lang="en-US" sz="44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 smtClean="0">
                <a:sym typeface="+mn-ea"/>
              </a:rPr>
              <a:t>What are the positive fall outs of a conflict ? </a:t>
            </a:r>
            <a:endParaRPr lang="en-US" sz="4400" b="1" dirty="0"/>
          </a:p>
          <a:p>
            <a:pPr marL="571500" indent="-571500"/>
            <a:endParaRPr lang="en-US" sz="4400" b="1"/>
          </a:p>
        </p:txBody>
      </p:sp>
      <p:sp>
        <p:nvSpPr>
          <p:cNvPr id="5" name="Text Box 4"/>
          <p:cNvSpPr txBox="1"/>
          <p:nvPr/>
        </p:nvSpPr>
        <p:spPr>
          <a:xfrm>
            <a:off x="149860" y="4194810"/>
            <a:ext cx="752411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/>
                <a:sym typeface="+mn-ea"/>
              </a:rPr>
              <a:t>Negative and positive consequences</a:t>
            </a:r>
            <a:endParaRPr lang="en-US" sz="5400" b="1" dirty="0" smtClean="0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79095" y="6096635"/>
            <a:ext cx="11433810" cy="1678305"/>
          </a:xfrm>
        </p:spPr>
        <p:txBody>
          <a:bodyPr>
            <a:noAutofit/>
          </a:bodyPr>
          <a:p>
            <a:r>
              <a:rPr lang="en-US" sz="6000" b="1" dirty="0" smtClean="0">
                <a:solidFill>
                  <a:schemeClr val="accent2"/>
                </a:solidFill>
                <a:sym typeface="+mn-ea"/>
              </a:rPr>
              <a:t>What is a conflict ? </a:t>
            </a:r>
            <a:endParaRPr lang="en-US" sz="6000" b="1" dirty="0" smtClean="0">
              <a:solidFill>
                <a:schemeClr val="accent2"/>
              </a:solidFill>
              <a:sym typeface="+mn-ea"/>
            </a:endParaRPr>
          </a:p>
          <a:p>
            <a:endParaRPr lang="en-US" sz="6000" b="1" dirty="0" smtClean="0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20345" y="721995"/>
            <a:ext cx="11903075" cy="3930015"/>
          </a:xfrm>
        </p:spPr>
        <p:txBody>
          <a:bodyPr>
            <a:no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 smtClean="0">
                <a:sym typeface="+mn-ea"/>
              </a:rPr>
              <a:t>What is a conflict ?  Why do they arise between people ? </a:t>
            </a:r>
            <a:endParaRPr lang="en-US" sz="36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 smtClean="0">
                <a:solidFill>
                  <a:srgbClr val="FFC000"/>
                </a:solidFill>
                <a:sym typeface="+mn-ea"/>
              </a:rPr>
              <a:t>Are Conflicts, limited to certain relationships, are can happen in any relationship? </a:t>
            </a:r>
            <a:endParaRPr lang="en-US" sz="3600" b="1" dirty="0" smtClean="0">
              <a:solidFill>
                <a:srgbClr val="FFC00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 smtClean="0">
                <a:sym typeface="+mn-ea"/>
              </a:rPr>
              <a:t>Examples ? </a:t>
            </a:r>
            <a:endParaRPr lang="en-US" sz="36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 smtClean="0">
                <a:sym typeface="+mn-ea"/>
              </a:rPr>
              <a:t>Conflict is Perceived differences of needs , values and goals .</a:t>
            </a:r>
            <a:endParaRPr lang="en-US" sz="36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 smtClean="0">
                <a:sym typeface="+mn-ea"/>
              </a:rPr>
              <a:t>Part of a relationships </a:t>
            </a:r>
            <a:endParaRPr lang="en-US" sz="3600" b="1" dirty="0" smtClean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571500" indent="-571500" algn="l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4400" b="1" dirty="0" smtClean="0">
                <a:latin typeface="Gautami" panose="020B0502040204020203" charset="0"/>
                <a:cs typeface="Gautami" panose="020B0502040204020203" charset="0"/>
                <a:sym typeface="+mn-ea"/>
              </a:rPr>
              <a:t>Perceived difference </a:t>
            </a:r>
            <a:r>
              <a:rPr lang="en-US" sz="4400" b="1" dirty="0" smtClean="0">
                <a:solidFill>
                  <a:schemeClr val="accent4"/>
                </a:solidFill>
                <a:latin typeface="Gautami" panose="020B0502040204020203" charset="0"/>
                <a:cs typeface="Gautami" panose="020B0502040204020203" charset="0"/>
                <a:sym typeface="+mn-ea"/>
              </a:rPr>
              <a:t>needs, values and goals </a:t>
            </a:r>
            <a:endParaRPr lang="en-US" sz="4400" b="1" dirty="0" smtClean="0">
              <a:solidFill>
                <a:schemeClr val="accent4"/>
              </a:solidFill>
              <a:latin typeface="Gautami" panose="020B0502040204020203" charset="0"/>
              <a:cs typeface="Gautami" panose="020B0502040204020203" charset="0"/>
            </a:endParaRPr>
          </a:p>
          <a:p>
            <a:pPr marL="571500" indent="-571500" algn="l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4400" b="1" dirty="0" smtClean="0">
                <a:latin typeface="Gautami" panose="020B0502040204020203" charset="0"/>
                <a:cs typeface="Gautami" panose="020B0502040204020203" charset="0"/>
                <a:sym typeface="+mn-ea"/>
              </a:rPr>
              <a:t>Part of a relationship</a:t>
            </a:r>
            <a:endParaRPr lang="en-US" sz="4400" b="1" dirty="0" smtClean="0">
              <a:latin typeface="Gautami" panose="020B0502040204020203" charset="0"/>
              <a:cs typeface="Gautami" panose="020B0502040204020203" charset="0"/>
            </a:endParaRPr>
          </a:p>
          <a:p>
            <a:pPr marL="571500" indent="-571500" algn="l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4400" b="1" dirty="0" smtClean="0">
                <a:latin typeface="Gautami" panose="020B0502040204020203" charset="0"/>
                <a:cs typeface="Gautami" panose="020B0502040204020203" charset="0"/>
                <a:sym typeface="+mn-ea"/>
              </a:rPr>
              <a:t>Consequence of growth change</a:t>
            </a:r>
            <a:endParaRPr lang="en-US" sz="4400" b="1" dirty="0" smtClean="0">
              <a:latin typeface="Gautami" panose="020B0502040204020203" charset="0"/>
              <a:cs typeface="Gautami" panose="020B0502040204020203" charset="0"/>
            </a:endParaRPr>
          </a:p>
          <a:p>
            <a:endParaRPr lang="en-US" sz="4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6324600" y="1295400"/>
            <a:ext cx="4124325" cy="4800600"/>
          </a:xfrm>
        </p:spPr>
        <p:txBody>
          <a:bodyPr>
            <a:normAutofit fontScale="90000" lnSpcReduction="20000"/>
          </a:bodyPr>
          <a:lstStyle/>
          <a:p>
            <a:pPr marL="571500" indent="-5715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4800" b="1" dirty="0" smtClean="0">
                <a:latin typeface="Gautami" panose="020B0502040204020203" charset="0"/>
                <a:cs typeface="Gautami" panose="020B0502040204020203" charset="0"/>
                <a:sym typeface="+mn-ea"/>
              </a:rPr>
              <a:t>Sign of a bad relationship </a:t>
            </a:r>
            <a:endParaRPr lang="en-US" sz="4800" b="1" dirty="0" smtClean="0">
              <a:latin typeface="Gautami" panose="020B0502040204020203" charset="0"/>
              <a:cs typeface="Gautami" panose="020B0502040204020203" charset="0"/>
            </a:endParaRPr>
          </a:p>
          <a:p>
            <a:pPr marL="571500" indent="-5715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4800" b="1" dirty="0" smtClean="0">
                <a:latin typeface="Gautami" panose="020B0502040204020203" charset="0"/>
                <a:cs typeface="Gautami" panose="020B0502040204020203" charset="0"/>
                <a:sym typeface="+mn-ea"/>
              </a:rPr>
              <a:t>Negative experience</a:t>
            </a:r>
            <a:endParaRPr lang="en-US" sz="4800" b="1" dirty="0" smtClean="0">
              <a:latin typeface="Gautami" panose="020B0502040204020203" charset="0"/>
              <a:cs typeface="Gautami" panose="020B0502040204020203" charset="0"/>
            </a:endParaRPr>
          </a:p>
          <a:p>
            <a:pPr marL="571500" indent="-5715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4800" b="1" dirty="0" smtClean="0">
                <a:latin typeface="Gautami" panose="020B0502040204020203" charset="0"/>
                <a:cs typeface="Gautami" panose="020B0502040204020203" charset="0"/>
                <a:sym typeface="+mn-ea"/>
              </a:rPr>
              <a:t>Mistake </a:t>
            </a:r>
            <a:endParaRPr lang="en-US" sz="4800" b="1" dirty="0" smtClean="0">
              <a:latin typeface="Gautami" panose="020B0502040204020203" charset="0"/>
              <a:cs typeface="Gautami" panose="020B0502040204020203" charset="0"/>
            </a:endParaRPr>
          </a:p>
          <a:p>
            <a:pPr marL="571500" indent="-5715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4800" b="1" dirty="0" smtClean="0">
                <a:latin typeface="Gautami" panose="020B0502040204020203" charset="0"/>
                <a:cs typeface="Gautami" panose="020B0502040204020203" charset="0"/>
                <a:sym typeface="+mn-ea"/>
              </a:rPr>
              <a:t>Struggle between right and wrong</a:t>
            </a:r>
            <a:endParaRPr lang="en-US" sz="4800" b="1" dirty="0" smtClean="0">
              <a:latin typeface="Gautami" panose="020B0502040204020203" charset="0"/>
              <a:cs typeface="Gautami" panose="020B0502040204020203" charset="0"/>
            </a:endParaRPr>
          </a:p>
          <a:p>
            <a:pPr marL="571500" indent="-571500"/>
            <a:endParaRPr lang="en-US" b="1">
              <a:latin typeface="Gautami" panose="020B0502040204020203" charset="0"/>
              <a:cs typeface="Gautami" panose="020B0502040204020203" charset="0"/>
            </a:endParaRP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0" y="376555"/>
            <a:ext cx="6096000" cy="766445"/>
          </a:xfrm>
          <a:solidFill>
            <a:schemeClr val="accent1"/>
          </a:solidFill>
        </p:spPr>
        <p:txBody>
          <a:bodyPr>
            <a:noAutofit/>
          </a:bodyPr>
          <a:lstStyle/>
          <a:p>
            <a:r>
              <a:rPr lang="en-US" sz="5400" b="1" dirty="0" smtClean="0">
                <a:solidFill>
                  <a:schemeClr val="tx1"/>
                </a:solidFill>
                <a:latin typeface="Gautami" panose="020B0502040204020203" charset="0"/>
                <a:cs typeface="Gautami" panose="020B0502040204020203" charset="0"/>
                <a:sym typeface="+mn-ea"/>
              </a:rPr>
              <a:t>Conflict is..</a:t>
            </a:r>
            <a:endParaRPr lang="en-US" sz="5400" b="1" dirty="0" smtClean="0">
              <a:solidFill>
                <a:schemeClr val="tx1"/>
              </a:solidFill>
              <a:latin typeface="Gautami" panose="020B0502040204020203" charset="0"/>
              <a:cs typeface="Gautami" panose="020B0502040204020203" charset="0"/>
              <a:sym typeface="+mn-ea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6102350" y="376555"/>
            <a:ext cx="5852795" cy="76644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 fontScale="25000"/>
          </a:bodyPr>
          <a:lstStyle/>
          <a:p>
            <a:r>
              <a:rPr lang="en-US" b="1" dirty="0" smtClean="0">
                <a:solidFill>
                  <a:schemeClr val="accent4"/>
                </a:solidFill>
                <a:latin typeface="Gautami" panose="020B0502040204020203" charset="0"/>
                <a:cs typeface="Gautami" panose="020B0502040204020203" charset="0"/>
                <a:sym typeface="+mn-ea"/>
              </a:rPr>
              <a:t>Conflict is not…</a:t>
            </a:r>
            <a:endParaRPr lang="en-US" b="1" dirty="0" smtClean="0">
              <a:solidFill>
                <a:schemeClr val="accent4"/>
              </a:solidFill>
              <a:latin typeface="Gautami" panose="020B0502040204020203" charset="0"/>
              <a:cs typeface="Gautami" panose="020B0502040204020203" charset="0"/>
              <a:sym typeface="+mn-ea"/>
            </a:endParaRPr>
          </a:p>
          <a:p>
            <a:r>
              <a:rPr lang="en-US" sz="19200" b="1" dirty="0" smtClean="0">
                <a:solidFill>
                  <a:schemeClr val="tx1"/>
                </a:solidFill>
                <a:latin typeface="Gautami" panose="020B0502040204020203" charset="0"/>
                <a:cs typeface="Gautami" panose="020B0502040204020203" charset="0"/>
                <a:sym typeface="+mn-ea"/>
              </a:rPr>
              <a:t>Conflict is not..</a:t>
            </a:r>
            <a:endParaRPr lang="en-US" sz="19200" b="1" dirty="0" smtClean="0">
              <a:solidFill>
                <a:schemeClr val="tx1"/>
              </a:solidFill>
              <a:latin typeface="Gautami" panose="020B0502040204020203" charset="0"/>
              <a:cs typeface="Gautami" panose="020B0502040204020203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2415" y="793115"/>
            <a:ext cx="10025380" cy="3667125"/>
          </a:xfrm>
        </p:spPr>
        <p:txBody>
          <a:bodyPr>
            <a:normAutofit lnSpcReduction="20000"/>
          </a:bodyPr>
          <a:p>
            <a:pPr marL="571500" indent="-5715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Diffuse more serious conflicts</a:t>
            </a:r>
            <a:endParaRPr lang="en-US" sz="4000" b="1" dirty="0" smtClean="0"/>
          </a:p>
          <a:p>
            <a:pPr marL="571500" indent="-5715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Stimulate search for new facts or solutions </a:t>
            </a:r>
            <a:endParaRPr lang="en-US" sz="4000" b="1" dirty="0" smtClean="0"/>
          </a:p>
          <a:p>
            <a:pPr marL="571500" indent="-5715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Enhance relationships </a:t>
            </a:r>
            <a:endParaRPr lang="en-US" sz="4000" b="1" dirty="0" smtClean="0"/>
          </a:p>
          <a:p>
            <a:pPr marL="571500" indent="-5715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Increase cohesiveness</a:t>
            </a:r>
            <a:endParaRPr lang="en-US" sz="4000" b="1" dirty="0" smtClean="0"/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endParaRPr lang="en-US" sz="4000" b="1" dirty="0" smtClean="0"/>
          </a:p>
          <a:p>
            <a:pPr marL="571500" indent="-571500" eaLnBrk="1" hangingPunct="1">
              <a:lnSpc>
                <a:spcPct val="90000"/>
              </a:lnSpc>
              <a:buFontTx/>
              <a:buNone/>
            </a:pPr>
            <a:r>
              <a:rPr lang="en-US" sz="4000" b="1" i="1" dirty="0" smtClean="0">
                <a:sym typeface="+mn-ea"/>
              </a:rPr>
              <a:t>Conflict should be managed not eliminated</a:t>
            </a:r>
            <a:endParaRPr lang="en-US" sz="4000" b="1" dirty="0" smtClean="0"/>
          </a:p>
          <a:p>
            <a:endParaRPr lang="en-US" sz="4000" b="1"/>
          </a:p>
        </p:txBody>
      </p:sp>
      <p:sp>
        <p:nvSpPr>
          <p:cNvPr id="6" name="Text Box 5"/>
          <p:cNvSpPr txBox="1"/>
          <p:nvPr/>
        </p:nvSpPr>
        <p:spPr>
          <a:xfrm>
            <a:off x="170180" y="4867910"/>
            <a:ext cx="68199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defRPr/>
            </a:pPr>
            <a:r>
              <a:rPr lang="en-US" sz="4800" b="1" smtClean="0">
                <a:solidFill>
                  <a:schemeClr val="accent4"/>
                </a:solidFill>
                <a:sym typeface="+mn-ea"/>
              </a:rPr>
              <a:t>Advantages of Conflict</a:t>
            </a:r>
            <a:endParaRPr lang="en-US" sz="4800" b="1" smtClean="0">
              <a:solidFill>
                <a:schemeClr val="accent4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3" descr="goals differnt types.gif"/>
          <p:cNvPicPr>
            <a:picLocks noGrp="1" noChangeAspect="1"/>
          </p:cNvPicPr>
          <p:nvPr>
            <p:ph type="pic" idx="1"/>
          </p:nvPr>
        </p:nvPicPr>
        <p:blipFill>
          <a:blip r:embed="rId1"/>
          <a:stretch>
            <a:fillRect/>
          </a:stretch>
        </p:blipFill>
        <p:spPr>
          <a:xfrm>
            <a:off x="0" y="63500"/>
            <a:ext cx="12192000" cy="679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0" y="662305"/>
            <a:ext cx="3657600" cy="1612265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</p:spPr>
        <p:txBody>
          <a:bodyPr>
            <a:normAutofit/>
          </a:bodyPr>
          <a:lstStyle/>
          <a:p>
            <a:r>
              <a:rPr lang="en-US" sz="5400" b="1" dirty="0" smtClean="0">
                <a:solidFill>
                  <a:schemeClr val="tx1"/>
                </a:solidFill>
                <a:sym typeface="+mn-ea"/>
              </a:rPr>
              <a:t>Conflict is:</a:t>
            </a:r>
            <a:endParaRPr lang="en-US" sz="5400" b="1" dirty="0" smtClean="0">
              <a:solidFill>
                <a:schemeClr val="tx1"/>
              </a:solidFill>
            </a:endParaRPr>
          </a:p>
          <a:p>
            <a:endParaRPr lang="en-US" sz="5400" b="1" dirty="0" smtClean="0">
              <a:solidFill>
                <a:schemeClr val="tx1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570095" y="175260"/>
            <a:ext cx="7621905" cy="1612900"/>
          </a:xfrm>
        </p:spPr>
        <p:txBody>
          <a:bodyPr/>
          <a:lstStyle/>
          <a:p>
            <a:pPr marL="0" lvl="1"/>
            <a:r>
              <a:rPr lang="en-US" sz="5400" b="1" dirty="0" smtClean="0">
                <a:sym typeface="+mn-ea"/>
              </a:rPr>
              <a:t>Inevitable</a:t>
            </a:r>
            <a:endParaRPr lang="en-US" sz="5400" b="1" dirty="0" smtClean="0"/>
          </a:p>
          <a:p>
            <a:endParaRPr lang="en-US" sz="540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4570730" y="1857375"/>
            <a:ext cx="7621270" cy="1335405"/>
          </a:xfrm>
        </p:spPr>
        <p:txBody>
          <a:bodyPr>
            <a:normAutofit/>
          </a:bodyPr>
          <a:lstStyle/>
          <a:p>
            <a:pPr marL="0" lvl="1"/>
            <a:r>
              <a:rPr lang="en-US" sz="5400" b="1" dirty="0" smtClean="0">
                <a:sym typeface="+mn-ea"/>
              </a:rPr>
              <a:t> Necessary</a:t>
            </a:r>
            <a:endParaRPr lang="en-US" sz="5400" b="1" dirty="0" smtClean="0"/>
          </a:p>
          <a:p>
            <a:endParaRPr lang="en-US" sz="540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4570730" y="3272155"/>
            <a:ext cx="7621905" cy="1127760"/>
          </a:xfrm>
        </p:spPr>
        <p:txBody>
          <a:bodyPr>
            <a:norm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b="1" dirty="0" smtClean="0">
                <a:solidFill>
                  <a:schemeClr val="tx1"/>
                </a:solidFill>
                <a:sym typeface="+mn-ea"/>
              </a:rPr>
              <a:t>Useful</a:t>
            </a:r>
            <a:endParaRPr lang="en-US" sz="6000" b="1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11760" y="5221605"/>
            <a:ext cx="9295765" cy="92202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 anchor="t">
            <a:spAutoFit/>
          </a:bodyPr>
          <a:p>
            <a:pPr eaLnBrk="1" hangingPunct="1">
              <a:defRPr/>
            </a:pPr>
            <a:r>
              <a:rPr lang="en-US" sz="5400" b="1" smtClean="0">
                <a:solidFill>
                  <a:schemeClr val="accent4"/>
                </a:solidFill>
                <a:sym typeface="+mn-ea"/>
              </a:rPr>
              <a:t>Take Home Message</a:t>
            </a:r>
            <a:endParaRPr lang="en-US" sz="5400" b="1" smtClean="0">
              <a:solidFill>
                <a:schemeClr val="accent4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234950"/>
            <a:ext cx="8188960" cy="832485"/>
          </a:xfrm>
          <a:solidFill>
            <a:schemeClr val="accent4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sz="4400" b="1" dirty="0" smtClean="0">
                <a:solidFill>
                  <a:schemeClr val="bg1"/>
                </a:solidFill>
                <a:sym typeface="+mn-ea"/>
              </a:rPr>
              <a:t>Time consuming </a:t>
            </a:r>
            <a:endParaRPr lang="en-US" sz="4400" b="1" dirty="0" smtClean="0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0" y="1067435"/>
            <a:ext cx="8188960" cy="71120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ym typeface="+mn-ea"/>
              </a:rPr>
              <a:t>Disrupts progress/ problem solving</a:t>
            </a:r>
            <a:endParaRPr lang="en-US" sz="4000" b="1" dirty="0" smtClean="0">
              <a:sym typeface="+mn-ea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0" y="2577465"/>
            <a:ext cx="8188960" cy="1096010"/>
          </a:xfrm>
        </p:spPr>
        <p:txBody>
          <a:bodyPr>
            <a:noAutofit/>
          </a:bodyPr>
          <a:lstStyle/>
          <a:p>
            <a:r>
              <a:rPr lang="en-US" sz="4400" b="1" dirty="0" smtClean="0">
                <a:sym typeface="+mn-ea"/>
              </a:rPr>
              <a:t>Keeps people apart; if unresolved </a:t>
            </a:r>
            <a:endParaRPr lang="en-US" sz="4400" b="1" dirty="0" smtClean="0"/>
          </a:p>
          <a:p>
            <a:endParaRPr lang="en-US" sz="4400" b="1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0" y="4375150"/>
            <a:ext cx="8189595" cy="1250315"/>
          </a:xfrm>
        </p:spPr>
        <p:txBody>
          <a:bodyPr>
            <a:noAutofit/>
          </a:bodyPr>
          <a:lstStyle/>
          <a:p>
            <a:r>
              <a:rPr lang="en-US" sz="4400" b="1" dirty="0" smtClean="0">
                <a:sym typeface="+mn-ea"/>
              </a:rPr>
              <a:t>Reduces team effectiveness</a:t>
            </a:r>
            <a:endParaRPr lang="en-US" sz="4400" b="1" dirty="0" smtClean="0"/>
          </a:p>
          <a:p>
            <a:endParaRPr lang="en-US" sz="4400" b="1" dirty="0" smtClean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0" y="1778635"/>
            <a:ext cx="8189595" cy="798830"/>
          </a:xfrm>
        </p:spPr>
        <p:txBody>
          <a:bodyPr>
            <a:noAutofit/>
          </a:bodyPr>
          <a:lstStyle/>
          <a:p>
            <a:r>
              <a:rPr lang="en-US" sz="4400" b="1" dirty="0" smtClean="0">
                <a:sym typeface="+mn-ea"/>
              </a:rPr>
              <a:t>Detracts from job at hand </a:t>
            </a:r>
            <a:endParaRPr lang="en-US" sz="4400" b="1" dirty="0" smtClean="0">
              <a:sym typeface="+mn-ea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-635" y="3128010"/>
            <a:ext cx="8190230" cy="1247140"/>
          </a:xfrm>
        </p:spPr>
        <p:txBody>
          <a:bodyPr>
            <a:noAutofit/>
          </a:bodyPr>
          <a:lstStyle/>
          <a:p>
            <a:r>
              <a:rPr lang="en-US" sz="4400" b="1" dirty="0" smtClean="0">
                <a:sym typeface="+mn-ea"/>
              </a:rPr>
              <a:t>Poor quality, lowers productivity</a:t>
            </a:r>
            <a:endParaRPr lang="en-US" sz="4400" b="1" dirty="0" smtClean="0"/>
          </a:p>
          <a:p>
            <a:endParaRPr lang="en-US" sz="4400" b="1" dirty="0" smtClean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1823085" y="6151245"/>
            <a:ext cx="10368280" cy="61468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sz="5400" b="1" smtClean="0">
                <a:solidFill>
                  <a:schemeClr val="tx1"/>
                </a:solidFill>
                <a:sym typeface="+mn-ea"/>
              </a:rPr>
              <a:t>Disavantages of Conflict</a:t>
            </a:r>
            <a:endParaRPr lang="en-US" sz="5400" b="1" smtClean="0">
              <a:solidFill>
                <a:schemeClr val="tx1"/>
              </a:solidFill>
            </a:endParaRPr>
          </a:p>
          <a:p>
            <a:pPr algn="ctr"/>
            <a:endParaRPr lang="en-US" sz="5400" b="1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118745"/>
            <a:ext cx="12191365" cy="6185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C000"/>
                </a:solidFill>
                <a:sym typeface="+mn-ea"/>
              </a:rPr>
              <a:t>Perception</a:t>
            </a:r>
            <a:r>
              <a:rPr lang="en-US" sz="3600" b="1" dirty="0">
                <a:sym typeface="+mn-ea"/>
              </a:rPr>
              <a:t> of threat to :</a:t>
            </a:r>
            <a:endParaRPr lang="en-US" sz="36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ym typeface="+mn-ea"/>
              </a:rPr>
              <a:t>Security </a:t>
            </a:r>
            <a:endParaRPr lang="en-US" sz="36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ym typeface="+mn-ea"/>
              </a:rPr>
              <a:t>Power </a:t>
            </a:r>
            <a:endParaRPr lang="en-US" sz="36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ym typeface="+mn-ea"/>
              </a:rPr>
              <a:t>Reward System</a:t>
            </a:r>
            <a:endParaRPr lang="en-US" sz="36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ym typeface="+mn-ea"/>
              </a:rPr>
              <a:t>Goals</a:t>
            </a:r>
            <a:endParaRPr lang="en-US" sz="36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ym typeface="+mn-ea"/>
              </a:rPr>
              <a:t>Autonomy</a:t>
            </a:r>
            <a:endParaRPr lang="en-US" sz="36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ym typeface="+mn-ea"/>
              </a:rPr>
              <a:t>Values and </a:t>
            </a:r>
            <a:r>
              <a:rPr lang="en-US" sz="3600" b="1" dirty="0" smtClean="0">
                <a:sym typeface="+mn-ea"/>
              </a:rPr>
              <a:t>beliefs</a:t>
            </a:r>
            <a:endParaRPr lang="en-US" sz="36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 smtClean="0">
                <a:sym typeface="+mn-ea"/>
              </a:rPr>
              <a:t>Q : How do you see the difference between real threat and ‘ perception ‘ of threat , among complainants in conflicts ? Recent examples ? Does your </a:t>
            </a:r>
            <a:r>
              <a:rPr lang="en-US" sz="3600" b="1" dirty="0" err="1" smtClean="0">
                <a:sym typeface="+mn-ea"/>
              </a:rPr>
              <a:t>counselling</a:t>
            </a:r>
            <a:r>
              <a:rPr lang="en-US" sz="3600" b="1" dirty="0" smtClean="0">
                <a:sym typeface="+mn-ea"/>
              </a:rPr>
              <a:t> differ ? </a:t>
            </a:r>
            <a:endParaRPr lang="en-US" sz="3600" b="1" dirty="0" smtClean="0"/>
          </a:p>
          <a:p>
            <a:pPr marL="571500" indent="-571500"/>
            <a:endParaRPr lang="en-US" sz="36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95250"/>
            <a:ext cx="12111990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>
                <a:sym typeface="+mn-ea"/>
              </a:rPr>
              <a:t>Due to lack of </a:t>
            </a:r>
            <a:r>
              <a:rPr lang="en-US" sz="4400" b="1" dirty="0" smtClean="0">
                <a:sym typeface="+mn-ea"/>
              </a:rPr>
              <a:t>- </a:t>
            </a:r>
            <a:endParaRPr lang="en-US" sz="44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>
                <a:sym typeface="+mn-ea"/>
              </a:rPr>
              <a:t>Consideration</a:t>
            </a:r>
            <a:endParaRPr lang="en-US" sz="44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>
                <a:sym typeface="+mn-ea"/>
              </a:rPr>
              <a:t>Appreciation</a:t>
            </a:r>
            <a:endParaRPr lang="en-US" sz="44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>
                <a:sym typeface="+mn-ea"/>
              </a:rPr>
              <a:t>Misunderstanding</a:t>
            </a:r>
            <a:endParaRPr lang="en-US" sz="44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>
                <a:sym typeface="+mn-ea"/>
              </a:rPr>
              <a:t>Bad handling</a:t>
            </a:r>
            <a:endParaRPr lang="en-US" sz="44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rgbClr val="FFC000"/>
                </a:solidFill>
                <a:sym typeface="+mn-ea"/>
              </a:rPr>
              <a:t>Awareness of its </a:t>
            </a:r>
            <a:r>
              <a:rPr lang="en-US" sz="4400" b="1" dirty="0" smtClean="0">
                <a:solidFill>
                  <a:srgbClr val="FFC000"/>
                </a:solidFill>
                <a:sym typeface="+mn-ea"/>
              </a:rPr>
              <a:t>existence </a:t>
            </a:r>
            <a:r>
              <a:rPr lang="en-US" sz="4400" b="1" dirty="0">
                <a:solidFill>
                  <a:srgbClr val="FFC000"/>
                </a:solidFill>
                <a:sym typeface="+mn-ea"/>
              </a:rPr>
              <a:t>is a precondition</a:t>
            </a:r>
            <a:endParaRPr lang="en-US" sz="4400" b="1"/>
          </a:p>
        </p:txBody>
      </p:sp>
      <p:sp>
        <p:nvSpPr>
          <p:cNvPr id="3" name="Text Box 2"/>
          <p:cNvSpPr txBox="1"/>
          <p:nvPr/>
        </p:nvSpPr>
        <p:spPr>
          <a:xfrm>
            <a:off x="703580" y="5425440"/>
            <a:ext cx="880618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4800" b="1">
                <a:sym typeface="+mn-ea"/>
              </a:rPr>
              <a:t>Conflict – genesis 2</a:t>
            </a:r>
            <a:endParaRPr lang="en-US" sz="48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25450" y="971550"/>
            <a:ext cx="11113770" cy="4545330"/>
          </a:xfrm>
        </p:spPr>
        <p:txBody>
          <a:bodyPr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ym typeface="+mn-ea"/>
              </a:rPr>
              <a:t>Due to social / psychological / economic reasons… but….</a:t>
            </a:r>
            <a:endParaRPr lang="en-US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ym typeface="+mn-ea"/>
              </a:rPr>
              <a:t>80 % due to emotions and fear </a:t>
            </a:r>
            <a:r>
              <a:rPr lang="en-US" sz="4000" b="1" dirty="0" smtClean="0">
                <a:sym typeface="+mn-ea"/>
              </a:rPr>
              <a:t>factor</a:t>
            </a:r>
            <a:endParaRPr lang="en-US" sz="40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Most conflicts are </a:t>
            </a:r>
            <a:r>
              <a:rPr lang="en-US" sz="4000" b="1" dirty="0" smtClean="0">
                <a:solidFill>
                  <a:schemeClr val="accent4"/>
                </a:solidFill>
                <a:sym typeface="+mn-ea"/>
              </a:rPr>
              <a:t>structural</a:t>
            </a:r>
            <a:r>
              <a:rPr lang="en-US" sz="4000" b="1" dirty="0" smtClean="0">
                <a:sym typeface="+mn-ea"/>
              </a:rPr>
              <a:t>. Not personality related. (Fundamental Attribution Error.)</a:t>
            </a:r>
            <a:endParaRPr lang="en-US" sz="40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Never </a:t>
            </a:r>
            <a:r>
              <a:rPr lang="en-US" sz="4000" b="1" dirty="0">
                <a:sym typeface="+mn-ea"/>
              </a:rPr>
              <a:t>underestimate emotional element and handle that </a:t>
            </a:r>
            <a:r>
              <a:rPr lang="en-US" sz="4000" b="1" dirty="0" smtClean="0">
                <a:sym typeface="+mn-ea"/>
              </a:rPr>
              <a:t>first ! </a:t>
            </a:r>
            <a:endParaRPr lang="en-US" sz="4000" b="1" dirty="0" smtClean="0">
              <a:sym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b="1" dirty="0" smtClean="0"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26085" y="5355590"/>
            <a:ext cx="934847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4800" b="1" dirty="0" smtClean="0">
                <a:solidFill>
                  <a:schemeClr val="accent2"/>
                </a:solidFill>
                <a:sym typeface="+mn-ea"/>
              </a:rPr>
              <a:t>3 broad reasons for conflicts …</a:t>
            </a:r>
            <a:endParaRPr lang="en-US" sz="4800" b="1" dirty="0" smtClean="0">
              <a:solidFill>
                <a:schemeClr val="accent2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240155" y="1457960"/>
            <a:ext cx="9568815" cy="580390"/>
          </a:xfrm>
        </p:spPr>
        <p:txBody>
          <a:bodyPr>
            <a:noAutofit/>
          </a:bodyPr>
          <a:lstStyle/>
          <a:p>
            <a:endParaRPr lang="en-US" sz="4800" b="1" u="sng" dirty="0" smtClean="0">
              <a:solidFill>
                <a:schemeClr val="accent2"/>
              </a:solidFill>
              <a:sym typeface="+mn-ea"/>
            </a:endParaRPr>
          </a:p>
          <a:p>
            <a:endParaRPr lang="en-US" sz="4800" b="1" u="sng" dirty="0" smtClean="0">
              <a:solidFill>
                <a:schemeClr val="accent2"/>
              </a:solidFill>
              <a:sym typeface="+mn-ea"/>
            </a:endParaRPr>
          </a:p>
          <a:p>
            <a:r>
              <a:rPr lang="en-US" sz="4800" b="1" u="sng" dirty="0" smtClean="0">
                <a:solidFill>
                  <a:schemeClr val="accent2"/>
                </a:solidFill>
                <a:sym typeface="+mn-ea"/>
              </a:rPr>
              <a:t>How do you Cool down emotions of parties , during a conflict ? </a:t>
            </a:r>
            <a:endParaRPr lang="en-US" sz="4800" b="1" u="sng" dirty="0">
              <a:solidFill>
                <a:schemeClr val="accent2"/>
              </a:solidFill>
            </a:endParaRPr>
          </a:p>
          <a:p>
            <a:endParaRPr lang="en-US" sz="4800" b="1" u="sng" dirty="0">
              <a:solidFill>
                <a:schemeClr val="accent2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0" y="1457960"/>
            <a:ext cx="12192000" cy="3476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 smtClean="0">
                <a:sym typeface="+mn-ea"/>
              </a:rPr>
              <a:t>When you are handling an emotionally charged situation, what’s your trusted response ? </a:t>
            </a:r>
            <a:endParaRPr lang="en-US" sz="44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 smtClean="0">
                <a:sym typeface="+mn-ea"/>
              </a:rPr>
              <a:t>What do you usually do ? Voluntary responses ! </a:t>
            </a:r>
            <a:endParaRPr lang="en-US" sz="44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 smtClean="0">
                <a:sym typeface="+mn-ea"/>
              </a:rPr>
              <a:t>Any other responses ? </a:t>
            </a:r>
            <a:endParaRPr lang="en-US" sz="44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 smtClean="0">
                <a:sym typeface="+mn-ea"/>
              </a:rPr>
              <a:t>There are 10 possible ways </a:t>
            </a:r>
            <a:endParaRPr lang="en-US" sz="4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35" y="0"/>
            <a:ext cx="12191365" cy="6185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 smtClean="0">
                <a:sym typeface="+mn-ea"/>
              </a:rPr>
              <a:t>Not all methods work in all situations. You need to be selective and context conscious ! </a:t>
            </a:r>
            <a:endParaRPr lang="en-US" sz="36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 smtClean="0">
                <a:sym typeface="+mn-ea"/>
              </a:rPr>
              <a:t>Maintain eye contact with all parties . </a:t>
            </a:r>
            <a:endParaRPr lang="en-US" sz="3600" b="1" dirty="0" smtClean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36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 smtClean="0">
                <a:sym typeface="+mn-ea"/>
              </a:rPr>
              <a:t>1. Goal :  </a:t>
            </a:r>
            <a:r>
              <a:rPr lang="en-US" sz="3600" b="1" dirty="0" err="1" smtClean="0">
                <a:solidFill>
                  <a:schemeClr val="accent2"/>
                </a:solidFill>
                <a:sym typeface="+mn-ea"/>
              </a:rPr>
              <a:t>humour</a:t>
            </a:r>
            <a:r>
              <a:rPr lang="en-US" sz="3600" b="1" dirty="0" smtClean="0">
                <a:solidFill>
                  <a:schemeClr val="accent2"/>
                </a:solidFill>
                <a:sym typeface="+mn-ea"/>
              </a:rPr>
              <a:t> </a:t>
            </a:r>
            <a:r>
              <a:rPr lang="en-US" sz="3600" b="1" dirty="0" smtClean="0">
                <a:sym typeface="+mn-ea"/>
              </a:rPr>
              <a:t>. ‘ Common , laugh it off . Only in some situations. Not all . </a:t>
            </a:r>
            <a:endParaRPr lang="en-US" sz="36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 smtClean="0">
                <a:sym typeface="+mn-ea"/>
              </a:rPr>
              <a:t>2. Goal : Make people look at the </a:t>
            </a:r>
            <a:r>
              <a:rPr lang="en-US" sz="3600" b="1" dirty="0" smtClean="0">
                <a:solidFill>
                  <a:schemeClr val="accent2"/>
                </a:solidFill>
                <a:sym typeface="+mn-ea"/>
              </a:rPr>
              <a:t>big picture</a:t>
            </a:r>
            <a:r>
              <a:rPr lang="en-US" sz="3600" b="1" dirty="0" smtClean="0">
                <a:solidFill>
                  <a:srgbClr val="FFFF00"/>
                </a:solidFill>
                <a:sym typeface="+mn-ea"/>
              </a:rPr>
              <a:t> </a:t>
            </a:r>
            <a:r>
              <a:rPr lang="en-US" sz="3600" b="1" dirty="0" smtClean="0">
                <a:sym typeface="+mn-ea"/>
              </a:rPr>
              <a:t>and long time future . </a:t>
            </a:r>
            <a:endParaRPr lang="en-US" sz="36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 smtClean="0">
                <a:sym typeface="+mn-ea"/>
              </a:rPr>
              <a:t>Dialogue : Don’t let this small incident , spoil every thing . </a:t>
            </a:r>
            <a:endParaRPr lang="en-US" sz="36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 smtClean="0">
                <a:sym typeface="+mn-ea"/>
              </a:rPr>
              <a:t>3. Goal</a:t>
            </a:r>
            <a:r>
              <a:rPr lang="en-US" sz="3600" b="1" dirty="0" smtClean="0">
                <a:solidFill>
                  <a:schemeClr val="accent2"/>
                </a:solidFill>
                <a:sym typeface="+mn-ea"/>
              </a:rPr>
              <a:t> : Distraction</a:t>
            </a:r>
            <a:r>
              <a:rPr lang="en-US" sz="3600" b="1" dirty="0" smtClean="0">
                <a:solidFill>
                  <a:srgbClr val="FFFF00"/>
                </a:solidFill>
                <a:sym typeface="+mn-ea"/>
              </a:rPr>
              <a:t> </a:t>
            </a:r>
            <a:r>
              <a:rPr lang="en-US" sz="3600" b="1" dirty="0" smtClean="0">
                <a:sym typeface="+mn-ea"/>
              </a:rPr>
              <a:t>. Dialogue : Let us take a break. Change the topic , talk something else. Bring them back. </a:t>
            </a:r>
            <a:endParaRPr lang="en-US" sz="36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1595" y="90170"/>
            <a:ext cx="12018645" cy="7293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4. Goal : </a:t>
            </a:r>
            <a:r>
              <a:rPr lang="en-US" sz="4000" b="1" dirty="0" smtClean="0">
                <a:solidFill>
                  <a:schemeClr val="accent2"/>
                </a:solidFill>
                <a:sym typeface="+mn-ea"/>
              </a:rPr>
              <a:t>Handling worry</a:t>
            </a:r>
            <a:r>
              <a:rPr lang="en-US" sz="4000" b="1" dirty="0" smtClean="0">
                <a:solidFill>
                  <a:srgbClr val="FFFF00"/>
                </a:solidFill>
                <a:sym typeface="+mn-ea"/>
              </a:rPr>
              <a:t>  </a:t>
            </a:r>
            <a:r>
              <a:rPr lang="en-US" sz="4000" b="1" dirty="0" smtClean="0">
                <a:sym typeface="+mn-ea"/>
              </a:rPr>
              <a:t>and asking for help . </a:t>
            </a:r>
            <a:endParaRPr lang="en-US" sz="40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Dialogue : Who have you spoken about this ? </a:t>
            </a:r>
            <a:endParaRPr lang="en-US" sz="40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5. Goal : Offering </a:t>
            </a:r>
            <a:r>
              <a:rPr lang="en-US" sz="4000" b="1" dirty="0" smtClean="0">
                <a:solidFill>
                  <a:schemeClr val="accent2"/>
                </a:solidFill>
                <a:sym typeface="+mn-ea"/>
              </a:rPr>
              <a:t>Hope</a:t>
            </a:r>
            <a:endParaRPr lang="en-US" sz="4000" b="1" dirty="0" smtClean="0">
              <a:solidFill>
                <a:schemeClr val="accent2"/>
              </a:solidFill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4000" b="1" dirty="0" smtClean="0">
                <a:solidFill>
                  <a:schemeClr val="accent2"/>
                </a:solidFill>
                <a:sym typeface="+mn-ea"/>
              </a:rPr>
              <a:t>  </a:t>
            </a:r>
            <a:endParaRPr lang="en-US" sz="40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Dialogue : Now it looks bad, but you will get through this. </a:t>
            </a:r>
            <a:endParaRPr lang="en-US" sz="40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6. Goal </a:t>
            </a:r>
            <a:r>
              <a:rPr lang="en-US" sz="4000" b="1" dirty="0" smtClean="0">
                <a:solidFill>
                  <a:schemeClr val="accent2"/>
                </a:solidFill>
                <a:sym typeface="+mn-ea"/>
              </a:rPr>
              <a:t>: Positive reframing . </a:t>
            </a:r>
            <a:endParaRPr lang="en-US" sz="40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What can you learn from this  , so that it won’t happen next time ? </a:t>
            </a:r>
            <a:endParaRPr lang="en-US" sz="4000" b="1" dirty="0" smtClean="0">
              <a:sym typeface="+mn-ea"/>
            </a:endParaRPr>
          </a:p>
          <a:p>
            <a:pPr indent="0" algn="l">
              <a:buFont typeface="Arial" panose="020B0604020202020204" pitchFamily="34" charset="0"/>
              <a:buNone/>
            </a:pPr>
            <a:r>
              <a:rPr lang="en-US" sz="5400" b="1" dirty="0" smtClean="0">
                <a:solidFill>
                  <a:schemeClr val="accent4"/>
                </a:solidFill>
                <a:sym typeface="+mn-ea"/>
              </a:rPr>
              <a:t>Cool down emotions 4-6</a:t>
            </a:r>
            <a:endParaRPr lang="en-US" sz="5400" b="1" dirty="0">
              <a:solidFill>
                <a:schemeClr val="accent4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5400" b="1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35" y="0"/>
            <a:ext cx="12191365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600" b="1" dirty="0" smtClean="0">
                <a:sym typeface="+mn-ea"/>
              </a:rPr>
              <a:t>7 . Goal : </a:t>
            </a:r>
            <a:r>
              <a:rPr lang="en-US" sz="3600" b="1" dirty="0" smtClean="0">
                <a:solidFill>
                  <a:schemeClr val="accent2"/>
                </a:solidFill>
                <a:sym typeface="+mn-ea"/>
              </a:rPr>
              <a:t>Acceptance.</a:t>
            </a:r>
            <a:r>
              <a:rPr lang="en-US" sz="3600" b="1" dirty="0" smtClean="0">
                <a:solidFill>
                  <a:schemeClr val="accent4"/>
                </a:solidFill>
                <a:sym typeface="+mn-ea"/>
              </a:rPr>
              <a:t> </a:t>
            </a:r>
            <a:endParaRPr lang="en-US" sz="3600" b="1" dirty="0" smtClean="0">
              <a:solidFill>
                <a:srgbClr val="FFFF00"/>
              </a:solidFill>
            </a:endParaRPr>
          </a:p>
          <a:p>
            <a:r>
              <a:rPr lang="en-US" sz="3600" b="1" dirty="0" smtClean="0">
                <a:sym typeface="+mn-ea"/>
              </a:rPr>
              <a:t>Dialogue : Don’t worry . Let us see what happens . </a:t>
            </a:r>
            <a:endParaRPr lang="en-US" sz="3600" b="1" dirty="0" smtClean="0"/>
          </a:p>
          <a:p>
            <a:r>
              <a:rPr lang="en-US" sz="3600" b="1" dirty="0" smtClean="0">
                <a:sym typeface="+mn-ea"/>
              </a:rPr>
              <a:t>8 . Goal : </a:t>
            </a:r>
            <a:r>
              <a:rPr lang="en-US" sz="3600" b="1" dirty="0" smtClean="0">
                <a:solidFill>
                  <a:schemeClr val="accent2"/>
                </a:solidFill>
                <a:sym typeface="+mn-ea"/>
              </a:rPr>
              <a:t>Perspective.</a:t>
            </a:r>
            <a:r>
              <a:rPr lang="en-US" sz="3600" b="1" dirty="0" smtClean="0">
                <a:solidFill>
                  <a:srgbClr val="FFFF00"/>
                </a:solidFill>
                <a:sym typeface="+mn-ea"/>
              </a:rPr>
              <a:t> </a:t>
            </a:r>
            <a:endParaRPr lang="en-US" sz="3600" b="1" dirty="0" smtClean="0">
              <a:solidFill>
                <a:srgbClr val="FFFF00"/>
              </a:solidFill>
              <a:sym typeface="+mn-ea"/>
            </a:endParaRPr>
          </a:p>
          <a:p>
            <a:endParaRPr lang="en-US" sz="3600" b="1" dirty="0" smtClean="0">
              <a:solidFill>
                <a:srgbClr val="FFFF00"/>
              </a:solidFill>
            </a:endParaRPr>
          </a:p>
          <a:p>
            <a:r>
              <a:rPr lang="en-US" sz="3600" b="1" dirty="0" smtClean="0">
                <a:sym typeface="+mn-ea"/>
              </a:rPr>
              <a:t>Dialogue  : This is not the end of the world. </a:t>
            </a:r>
            <a:endParaRPr lang="en-US" sz="3600" b="1" dirty="0" smtClean="0"/>
          </a:p>
          <a:p>
            <a:r>
              <a:rPr lang="en-US" sz="3600" b="1" dirty="0" smtClean="0">
                <a:sym typeface="+mn-ea"/>
              </a:rPr>
              <a:t>9. Goal : </a:t>
            </a:r>
            <a:r>
              <a:rPr lang="en-US" sz="3600" b="1" dirty="0" smtClean="0">
                <a:solidFill>
                  <a:schemeClr val="accent2"/>
                </a:solidFill>
                <a:sym typeface="+mn-ea"/>
              </a:rPr>
              <a:t>Flexible Thinking .</a:t>
            </a:r>
            <a:r>
              <a:rPr lang="en-US" sz="3600" b="1" dirty="0" smtClean="0">
                <a:sym typeface="+mn-ea"/>
              </a:rPr>
              <a:t> </a:t>
            </a:r>
            <a:endParaRPr lang="en-US" sz="3600" b="1" dirty="0" smtClean="0"/>
          </a:p>
          <a:p>
            <a:r>
              <a:rPr lang="en-US" sz="3600" b="1" dirty="0" smtClean="0">
                <a:sym typeface="+mn-ea"/>
              </a:rPr>
              <a:t>You may be right .  But have you thought of … fill in the blanks. </a:t>
            </a:r>
            <a:endParaRPr lang="en-US" sz="3600" b="1" dirty="0" smtClean="0"/>
          </a:p>
          <a:p>
            <a:r>
              <a:rPr lang="en-US" sz="3600" b="1" dirty="0" smtClean="0">
                <a:sym typeface="+mn-ea"/>
              </a:rPr>
              <a:t>10 . Goal : </a:t>
            </a:r>
            <a:r>
              <a:rPr lang="en-US" sz="3600" b="1" dirty="0" smtClean="0">
                <a:solidFill>
                  <a:schemeClr val="accent2"/>
                </a:solidFill>
                <a:sym typeface="+mn-ea"/>
              </a:rPr>
              <a:t>Take action. </a:t>
            </a:r>
            <a:endParaRPr lang="en-US" sz="3600" b="1" dirty="0" smtClean="0">
              <a:solidFill>
                <a:schemeClr val="accent2"/>
              </a:solidFill>
            </a:endParaRPr>
          </a:p>
          <a:p>
            <a:r>
              <a:rPr lang="en-US" sz="3600" b="1" dirty="0" smtClean="0">
                <a:sym typeface="+mn-ea"/>
              </a:rPr>
              <a:t>Dialogue : What can we do about this ? </a:t>
            </a:r>
            <a:endParaRPr lang="en-US" sz="3600" b="1"/>
          </a:p>
        </p:txBody>
      </p:sp>
      <p:sp>
        <p:nvSpPr>
          <p:cNvPr id="3" name="Text Box 2"/>
          <p:cNvSpPr txBox="1"/>
          <p:nvPr/>
        </p:nvSpPr>
        <p:spPr>
          <a:xfrm>
            <a:off x="109220" y="5077460"/>
            <a:ext cx="1010729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6000" b="1" dirty="0" smtClean="0">
                <a:solidFill>
                  <a:schemeClr val="accent4"/>
                </a:solidFill>
                <a:sym typeface="+mn-ea"/>
              </a:rPr>
              <a:t>Cool down , methods 7-10</a:t>
            </a:r>
            <a:endParaRPr lang="en-US" sz="6000" b="1" dirty="0" smtClean="0">
              <a:solidFill>
                <a:schemeClr val="accent4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03250" y="3244850"/>
            <a:ext cx="683577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7200" b="1" dirty="0" smtClean="0">
                <a:sym typeface="+mn-ea"/>
              </a:rPr>
              <a:t>ROLE PLAY </a:t>
            </a:r>
            <a:endParaRPr lang="en-US" sz="72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79095" y="6705600"/>
            <a:ext cx="11433810" cy="76200"/>
          </a:xfrm>
        </p:spPr>
        <p:txBody>
          <a:bodyPr>
            <a:noAutofit/>
          </a:bodyPr>
          <a:p>
            <a:r>
              <a:rPr lang="en-US" sz="4800" b="1" dirty="0" smtClean="0">
                <a:sym typeface="+mn-ea"/>
              </a:rPr>
              <a:t>12 strategies to resolve conflicts</a:t>
            </a:r>
            <a:endParaRPr lang="en-US" sz="4800" b="1"/>
          </a:p>
          <a:p>
            <a:endParaRPr lang="en-US" sz="4800" b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0" y="759460"/>
            <a:ext cx="12103100" cy="4227195"/>
          </a:xfrm>
        </p:spPr>
        <p:txBody>
          <a:bodyPr>
            <a:no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1. Control the emotions first . Of complainants &amp; respondents. </a:t>
            </a:r>
            <a:endParaRPr lang="en-US" sz="40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2. </a:t>
            </a:r>
            <a:r>
              <a:rPr lang="en-US" sz="4000" b="1" dirty="0" smtClean="0">
                <a:solidFill>
                  <a:schemeClr val="accent4"/>
                </a:solidFill>
                <a:sym typeface="+mn-ea"/>
              </a:rPr>
              <a:t>Attack the problem  , not the person</a:t>
            </a:r>
            <a:endParaRPr lang="en-US" sz="4000" b="1" dirty="0" smtClean="0">
              <a:solidFill>
                <a:schemeClr val="accent4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olidFill>
                  <a:schemeClr val="accent4"/>
                </a:solidFill>
                <a:sym typeface="+mn-ea"/>
              </a:rPr>
              <a:t>3.</a:t>
            </a:r>
            <a:r>
              <a:rPr lang="en-US" sz="4000" b="1" dirty="0" smtClean="0">
                <a:sym typeface="+mn-ea"/>
              </a:rPr>
              <a:t> Talk about facts, events, and damage done.  Feelings can be expressed, but no blame game!</a:t>
            </a:r>
            <a:endParaRPr lang="en-US" sz="40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olidFill>
                  <a:schemeClr val="accent4"/>
                </a:solidFill>
                <a:sym typeface="+mn-ea"/>
              </a:rPr>
              <a:t>4.  They can tell the issue . But not how to handle it.</a:t>
            </a:r>
            <a:endParaRPr lang="en-US" sz="4000" b="1" dirty="0">
              <a:solidFill>
                <a:schemeClr val="accent4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b="1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79095" y="6706235"/>
            <a:ext cx="11433810" cy="76200"/>
          </a:xfrm>
        </p:spPr>
        <p:txBody>
          <a:bodyPr>
            <a:noAutofit/>
          </a:bodyPr>
          <a:p>
            <a:r>
              <a:rPr lang="en-US" sz="4800" b="1" dirty="0" smtClean="0">
                <a:sym typeface="+mn-ea"/>
              </a:rPr>
              <a:t>12 ways to resolve a conflict – contd..</a:t>
            </a:r>
            <a:endParaRPr lang="en-US" sz="4800" b="1" dirty="0"/>
          </a:p>
          <a:p>
            <a:endParaRPr lang="en-US" sz="4800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0325" y="64135"/>
            <a:ext cx="12132310" cy="4922520"/>
          </a:xfrm>
        </p:spPr>
        <p:txBody>
          <a:bodyPr>
            <a:no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5. individual opinions may differ, don’t try</a:t>
            </a:r>
            <a:endParaRPr lang="en-US" sz="4000" b="1" dirty="0" smtClean="0">
              <a:solidFill>
                <a:srgbClr val="FFC00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olidFill>
                  <a:srgbClr val="FFC000"/>
                </a:solidFill>
                <a:sym typeface="+mn-ea"/>
              </a:rPr>
              <a:t>to force compliance.</a:t>
            </a:r>
            <a:r>
              <a:rPr lang="en-US" sz="4000" b="1" dirty="0" smtClean="0">
                <a:sym typeface="+mn-ea"/>
              </a:rPr>
              <a:t>6.</a:t>
            </a:r>
            <a:r>
              <a:rPr lang="en-US" sz="4000" b="1" dirty="0" smtClean="0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 </a:t>
            </a:r>
            <a:r>
              <a:rPr lang="en-US" sz="4000" b="1" dirty="0" smtClean="0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scaled="0"/>
                </a:gradFill>
                <a:sym typeface="+mn-ea"/>
              </a:rPr>
              <a:t>Do not review the situation as a competition</a:t>
            </a:r>
            <a:r>
              <a:rPr lang="en-US" sz="4000" b="1" dirty="0" smtClean="0">
                <a:sym typeface="+mn-ea"/>
              </a:rPr>
              <a:t>, where one has to win and one has to lose. </a:t>
            </a:r>
            <a:r>
              <a:rPr lang="en-US" sz="4000" b="1" dirty="0" smtClean="0">
                <a:solidFill>
                  <a:srgbClr val="FF0000"/>
                </a:solidFill>
                <a:sym typeface="+mn-ea"/>
              </a:rPr>
              <a:t>We lost it </a:t>
            </a:r>
            <a:r>
              <a:rPr lang="en-US" sz="4000" b="1" dirty="0" smtClean="0">
                <a:sym typeface="+mn-ea"/>
              </a:rPr>
              <a:t>, when we let them feel so.</a:t>
            </a:r>
            <a:endParaRPr lang="en-US" sz="40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7. Focus on areas of </a:t>
            </a:r>
            <a:r>
              <a:rPr lang="en-US" sz="4000" b="1" dirty="0" smtClean="0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scaled="0"/>
                </a:gradFill>
                <a:sym typeface="+mn-ea"/>
              </a:rPr>
              <a:t>common interest and agreement, </a:t>
            </a:r>
            <a:r>
              <a:rPr lang="en-US" sz="4000" b="1" dirty="0" smtClean="0">
                <a:sym typeface="+mn-ea"/>
              </a:rPr>
              <a:t>instead of areas of disagreement .</a:t>
            </a:r>
            <a:endParaRPr lang="en-US" sz="40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8. NEVER jump to conclusions or make assumptions about what another is feeling or thinking</a:t>
            </a:r>
            <a:endParaRPr lang="en-US" sz="4000" b="1" dirty="0"/>
          </a:p>
          <a:p>
            <a:pPr marL="571500" indent="-571500"/>
            <a:endParaRPr lang="en-US" sz="4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p>
            <a:r>
              <a:rPr lang="en-US" sz="5400" b="1" dirty="0" smtClean="0">
                <a:sym typeface="+mn-ea"/>
              </a:rPr>
              <a:t>12 ways to resolve a conflict </a:t>
            </a:r>
            <a:endParaRPr lang="en-US" sz="5400" b="1" dirty="0" smtClean="0">
              <a:sym typeface="+mn-ea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-80010" y="0"/>
            <a:ext cx="12272645" cy="4912995"/>
          </a:xfrm>
        </p:spPr>
        <p:txBody>
          <a:bodyPr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 smtClean="0">
                <a:sym typeface="+mn-ea"/>
              </a:rPr>
              <a:t>9. Listen without interrupting</a:t>
            </a:r>
            <a:endParaRPr lang="en-US" sz="44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 smtClean="0">
                <a:sym typeface="+mn-ea"/>
              </a:rPr>
              <a:t>10.Remember, when only one person’s needs are satisfied in a conflict, it is NOT resolved and will continue ! </a:t>
            </a:r>
            <a:endParaRPr lang="en-US" sz="44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 smtClean="0">
                <a:sym typeface="+mn-ea"/>
              </a:rPr>
              <a:t>11. Forget the past and stay in the present</a:t>
            </a:r>
            <a:endParaRPr lang="en-US" sz="44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 smtClean="0">
                <a:sym typeface="+mn-ea"/>
              </a:rPr>
              <a:t>12.  Build ‘power with’ NOT ‘power over’ others. </a:t>
            </a:r>
            <a:endParaRPr lang="en-US" sz="4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628650" y="5262245"/>
            <a:ext cx="1040892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4800" b="1" dirty="0" smtClean="0">
                <a:sym typeface="+mn-ea"/>
              </a:rPr>
              <a:t>  </a:t>
            </a:r>
            <a:r>
              <a:rPr lang="en-US" sz="6000" b="1" dirty="0" smtClean="0">
                <a:solidFill>
                  <a:schemeClr val="accent2"/>
                </a:solidFill>
                <a:sym typeface="+mn-ea"/>
              </a:rPr>
              <a:t> Stages of a Conflict</a:t>
            </a:r>
            <a:r>
              <a:rPr lang="en-US" sz="6000" b="1" dirty="0">
                <a:sym typeface="+mn-ea"/>
              </a:rPr>
              <a:t>	</a:t>
            </a:r>
            <a:endParaRPr lang="en-US" sz="6000" b="1"/>
          </a:p>
        </p:txBody>
      </p:sp>
      <p:sp>
        <p:nvSpPr>
          <p:cNvPr id="4" name="Text Placeholder 3"/>
          <p:cNvSpPr/>
          <p:nvPr>
            <p:ph type="body" sz="quarter" idx="10"/>
          </p:nvPr>
        </p:nvSpPr>
        <p:spPr>
          <a:xfrm>
            <a:off x="80010" y="641350"/>
            <a:ext cx="12031980" cy="4142740"/>
          </a:xfrm>
        </p:spPr>
        <p:txBody>
          <a:bodyPr>
            <a:no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 smtClean="0">
                <a:solidFill>
                  <a:schemeClr val="tx1"/>
                </a:solidFill>
                <a:sym typeface="+mn-ea"/>
              </a:rPr>
              <a:t>Latent Conflict </a:t>
            </a:r>
            <a:endParaRPr lang="en-US" sz="4400" b="1" dirty="0" smtClean="0">
              <a:solidFill>
                <a:schemeClr val="tx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 smtClean="0">
                <a:solidFill>
                  <a:schemeClr val="tx1"/>
                </a:solidFill>
                <a:sym typeface="+mn-ea"/>
              </a:rPr>
              <a:t>Perceived Conflict  </a:t>
            </a:r>
            <a:endParaRPr lang="en-US" sz="4400" b="1" dirty="0" smtClean="0">
              <a:solidFill>
                <a:schemeClr val="tx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 smtClean="0">
                <a:solidFill>
                  <a:schemeClr val="tx1"/>
                </a:solidFill>
                <a:sym typeface="+mn-ea"/>
              </a:rPr>
              <a:t>Felt Conflict </a:t>
            </a:r>
            <a:endParaRPr lang="en-US" sz="4400" b="1" dirty="0" smtClean="0">
              <a:solidFill>
                <a:schemeClr val="tx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 smtClean="0">
                <a:solidFill>
                  <a:schemeClr val="tx1"/>
                </a:solidFill>
                <a:sym typeface="+mn-ea"/>
              </a:rPr>
              <a:t>Manifest Conflict </a:t>
            </a:r>
            <a:endParaRPr lang="en-US" sz="4400" b="1" dirty="0" smtClean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</a:pPr>
            <a:endParaRPr lang="en-US" sz="4400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79095" y="6461125"/>
            <a:ext cx="11433810" cy="848360"/>
          </a:xfrm>
        </p:spPr>
        <p:txBody>
          <a:bodyPr>
            <a:noAutofit/>
          </a:bodyPr>
          <a:p>
            <a:r>
              <a:rPr lang="en-US" sz="6000" b="1">
                <a:sym typeface="+mn-ea"/>
              </a:rPr>
              <a:t>How do people respond to conflicts?</a:t>
            </a:r>
            <a:endParaRPr lang="en-US" sz="6000" b="1"/>
          </a:p>
          <a:p>
            <a:endParaRPr lang="en-US" sz="6000" b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0805" y="1249680"/>
            <a:ext cx="12101195" cy="3736975"/>
          </a:xfrm>
        </p:spPr>
        <p:txBody>
          <a:bodyPr>
            <a:no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ym typeface="+mn-ea"/>
              </a:rPr>
              <a:t>Competing</a:t>
            </a:r>
            <a:endParaRPr lang="en-US" sz="36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ym typeface="+mn-ea"/>
              </a:rPr>
              <a:t>Collaborating.</a:t>
            </a:r>
            <a:endParaRPr lang="en-US" sz="36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ym typeface="+mn-ea"/>
              </a:rPr>
              <a:t>Aggression</a:t>
            </a:r>
            <a:endParaRPr lang="en-US" sz="36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ym typeface="+mn-ea"/>
              </a:rPr>
              <a:t>Withdrawal.</a:t>
            </a:r>
            <a:endParaRPr lang="en-US" sz="36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ym typeface="+mn-ea"/>
              </a:rPr>
              <a:t>Compromising.</a:t>
            </a:r>
            <a:endParaRPr lang="en-US" sz="36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ym typeface="+mn-ea"/>
              </a:rPr>
              <a:t>Q : How do we resolve, when we find people in each of these stages ?</a:t>
            </a:r>
            <a:endParaRPr lang="en-US" sz="36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79095" y="6522720"/>
            <a:ext cx="11433810" cy="756285"/>
          </a:xfrm>
        </p:spPr>
        <p:txBody>
          <a:bodyPr>
            <a:noAutofit/>
          </a:bodyPr>
          <a:p>
            <a:r>
              <a:rPr lang="en-US" sz="4800" b="1">
                <a:sym typeface="+mn-ea"/>
              </a:rPr>
              <a:t>Before we resolve, let us figure out…</a:t>
            </a:r>
            <a:endParaRPr lang="en-US" sz="4800" b="1"/>
          </a:p>
          <a:p>
            <a:endParaRPr lang="en-US" sz="4800" b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0330" y="732790"/>
            <a:ext cx="12092305" cy="4477385"/>
          </a:xfrm>
        </p:spPr>
        <p:txBody>
          <a:bodyPr>
            <a:no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ym typeface="+mn-ea"/>
              </a:rPr>
              <a:t>Is conflict related to </a:t>
            </a:r>
            <a:endParaRPr lang="en-US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ym typeface="+mn-ea"/>
              </a:rPr>
              <a:t>Facts ? ( </a:t>
            </a:r>
            <a:r>
              <a:rPr lang="en-US" sz="4000" b="1" dirty="0" smtClean="0">
                <a:sym typeface="+mn-ea"/>
              </a:rPr>
              <a:t>easy or difficult ? )</a:t>
            </a:r>
            <a:endParaRPr lang="en-US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ym typeface="+mn-ea"/>
              </a:rPr>
              <a:t>Goals ? ( </a:t>
            </a:r>
            <a:r>
              <a:rPr lang="en-US" sz="4000" b="1" dirty="0" smtClean="0">
                <a:sym typeface="+mn-ea"/>
              </a:rPr>
              <a:t>easy or difficult ? ) </a:t>
            </a:r>
            <a:endParaRPr lang="en-US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ym typeface="+mn-ea"/>
              </a:rPr>
              <a:t>Methods employed ? ( </a:t>
            </a:r>
            <a:r>
              <a:rPr lang="en-US" sz="4000" b="1" dirty="0" smtClean="0">
                <a:sym typeface="+mn-ea"/>
              </a:rPr>
              <a:t>easy or difficult ? )</a:t>
            </a:r>
            <a:endParaRPr lang="en-US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ym typeface="+mn-ea"/>
              </a:rPr>
              <a:t>Bad </a:t>
            </a:r>
            <a:r>
              <a:rPr lang="en-US" sz="4000" b="1" dirty="0" smtClean="0">
                <a:sym typeface="+mn-ea"/>
              </a:rPr>
              <a:t>Handling</a:t>
            </a:r>
            <a:r>
              <a:rPr lang="en-US" sz="4000" b="1" dirty="0">
                <a:sym typeface="+mn-ea"/>
              </a:rPr>
              <a:t>? ( </a:t>
            </a:r>
            <a:r>
              <a:rPr lang="en-US" sz="4000" b="1" dirty="0" smtClean="0">
                <a:sym typeface="+mn-ea"/>
              </a:rPr>
              <a:t>easy or difficult ? )</a:t>
            </a:r>
            <a:endParaRPr lang="en-US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ym typeface="+mn-ea"/>
              </a:rPr>
              <a:t>Differing value and belief systems ? ( </a:t>
            </a:r>
            <a:r>
              <a:rPr lang="en-US" sz="4000" b="1" dirty="0" smtClean="0">
                <a:sym typeface="+mn-ea"/>
              </a:rPr>
              <a:t>easy or difficult?  </a:t>
            </a:r>
            <a:r>
              <a:rPr lang="en-US" sz="4000" b="1" dirty="0">
                <a:sym typeface="+mn-ea"/>
              </a:rPr>
              <a:t>)</a:t>
            </a:r>
            <a:endParaRPr lang="en-US" sz="4000" b="1" dirty="0"/>
          </a:p>
          <a:p>
            <a:pPr marL="571500" indent="-571500"/>
            <a:endParaRPr lang="en-US" sz="4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0" y="944880"/>
            <a:ext cx="3657600" cy="1106805"/>
          </a:xfrm>
        </p:spPr>
        <p:txBody>
          <a:bodyPr>
            <a:normAutofit fontScale="8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olidFill>
                  <a:srgbClr val="002060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Do-ability test – </a:t>
            </a:r>
            <a:endParaRPr lang="en-US" sz="4000" b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0" y="2583180"/>
            <a:ext cx="3657600" cy="1148080"/>
          </a:xfrm>
        </p:spPr>
        <p:txBody>
          <a:bodyPr>
            <a:normAutofit fontScale="9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olidFill>
                  <a:srgbClr val="002060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Durability test-</a:t>
            </a:r>
            <a:endParaRPr lang="en-US" sz="400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0" y="4032250"/>
            <a:ext cx="3657600" cy="1107440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olidFill>
                  <a:srgbClr val="002060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Interest test -</a:t>
            </a:r>
            <a:endParaRPr lang="en-US" sz="400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657600" y="945515"/>
            <a:ext cx="8534400" cy="1105535"/>
          </a:xfrm>
        </p:spPr>
        <p:txBody>
          <a:bodyPr/>
          <a:lstStyle/>
          <a:p>
            <a:r>
              <a:rPr lang="en-US" sz="4400" b="1" dirty="0" smtClean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Is this doable? Practicable?</a:t>
            </a:r>
            <a:endParaRPr lang="en-US" sz="4400" b="1" dirty="0" smtClean="0">
              <a:solidFill>
                <a:srgbClr val="C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dirty="0" smtClean="0">
              <a:solidFill>
                <a:srgbClr val="002060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657600" y="2583180"/>
            <a:ext cx="8534400" cy="1148080"/>
          </a:xfrm>
        </p:spPr>
        <p:txBody>
          <a:bodyPr/>
          <a:lstStyle/>
          <a:p>
            <a:r>
              <a:rPr lang="en-US" sz="4400" b="1" dirty="0" smtClean="0">
                <a:solidFill>
                  <a:srgbClr val="002060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Is this durable?</a:t>
            </a:r>
            <a:endParaRPr lang="en-US" sz="4400" b="1" dirty="0" smtClean="0">
              <a:solidFill>
                <a:srgbClr val="002060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sz="4400" b="1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3657600" y="4032250"/>
            <a:ext cx="8534400" cy="1107440"/>
          </a:xfrm>
        </p:spPr>
        <p:txBody>
          <a:bodyPr/>
          <a:lstStyle/>
          <a:p>
            <a:r>
              <a:rPr lang="en-US" sz="4400" b="1" dirty="0" smtClean="0">
                <a:latin typeface="Calibri" panose="020F0502020204030204" charset="0"/>
                <a:cs typeface="Calibri" panose="020F0502020204030204" charset="0"/>
                <a:sym typeface="+mn-ea"/>
              </a:rPr>
              <a:t>Does this meet all parties’ interests?</a:t>
            </a:r>
            <a:endParaRPr lang="en-US" sz="4400" b="1"/>
          </a:p>
        </p:txBody>
      </p:sp>
      <p:sp>
        <p:nvSpPr>
          <p:cNvPr id="9" name="Text Box 8"/>
          <p:cNvSpPr txBox="1"/>
          <p:nvPr/>
        </p:nvSpPr>
        <p:spPr>
          <a:xfrm>
            <a:off x="0" y="5547995"/>
            <a:ext cx="1203071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4400" b="1" dirty="0" smtClean="0">
                <a:sym typeface="+mn-ea"/>
              </a:rPr>
              <a:t>After you find solutions  – 3 Litmus Tests ! </a:t>
            </a:r>
            <a:endParaRPr lang="en-US" sz="4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79095" y="6096635"/>
            <a:ext cx="11433810" cy="1729740"/>
          </a:xfrm>
        </p:spPr>
        <p:txBody>
          <a:bodyPr>
            <a:noAutofit/>
          </a:bodyPr>
          <a:p>
            <a:r>
              <a:rPr lang="en-US" sz="6600" b="1" dirty="0" smtClean="0">
                <a:solidFill>
                  <a:srgbClr val="FFFF00"/>
                </a:solidFill>
                <a:sym typeface="+mn-ea"/>
              </a:rPr>
              <a:t>Session Wrap Up </a:t>
            </a:r>
            <a:endParaRPr lang="en-US" sz="6600" b="1" dirty="0">
              <a:solidFill>
                <a:srgbClr val="FFFF00"/>
              </a:solidFill>
            </a:endParaRPr>
          </a:p>
          <a:p>
            <a:endParaRPr lang="en-US" sz="6600" b="1" dirty="0">
              <a:solidFill>
                <a:srgbClr val="FFFF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12192635" cy="5554980"/>
          </a:xfrm>
        </p:spPr>
        <p:txBody>
          <a:bodyPr>
            <a:no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What is the most important point you learned, that is most useful in your job ? ( each one ) </a:t>
            </a:r>
            <a:endParaRPr lang="en-US" sz="40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As a result of this training session, what do you do differently ? </a:t>
            </a:r>
            <a:endParaRPr lang="en-US" sz="40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3 broad categories of conflicts ? </a:t>
            </a:r>
            <a:endParaRPr lang="en-US" sz="40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Among the 10 ways to cool down, which you liked most ? Which one you are </a:t>
            </a:r>
            <a:r>
              <a:rPr lang="en-US" sz="4000" b="1" dirty="0" smtClean="0">
                <a:solidFill>
                  <a:schemeClr val="accent4"/>
                </a:solidFill>
                <a:sym typeface="+mn-ea"/>
              </a:rPr>
              <a:t>most uncomfortable with</a:t>
            </a:r>
            <a:r>
              <a:rPr lang="en-US" sz="4000" b="1" dirty="0" smtClean="0">
                <a:sym typeface="+mn-ea"/>
              </a:rPr>
              <a:t>, using?  ( Individual)</a:t>
            </a:r>
            <a:endParaRPr lang="en-US" sz="40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 smtClean="0">
                <a:sym typeface="+mn-ea"/>
              </a:rPr>
              <a:t>What are the 3 litmus tests ? </a:t>
            </a:r>
            <a:endParaRPr lang="en-US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6029</Words>
  <Application>WPS Presentation</Application>
  <PresentationFormat>Widescreen</PresentationFormat>
  <Paragraphs>255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Arial</vt:lpstr>
      <vt:lpstr>SimSun</vt:lpstr>
      <vt:lpstr>Wingdings</vt:lpstr>
      <vt:lpstr>Gautami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akash</cp:lastModifiedBy>
  <cp:revision>84</cp:revision>
  <dcterms:created xsi:type="dcterms:W3CDTF">2020-10-27T21:11:00Z</dcterms:created>
  <dcterms:modified xsi:type="dcterms:W3CDTF">2020-11-03T18:07:51Z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1033-11.2.0.9718</vt:lpwstr>
  </property>
</Properties>
</file>