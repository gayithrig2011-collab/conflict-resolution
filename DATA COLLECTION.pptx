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353" r:id="rId5"/>
    <p:sldId id="331" r:id="rId6"/>
    <p:sldId id="345" r:id="rId7"/>
    <p:sldId id="347" r:id="rId8"/>
    <p:sldId id="348" r:id="rId9"/>
    <p:sldId id="349" r:id="rId10"/>
    <p:sldId id="350" r:id="rId11"/>
    <p:sldId id="357" r:id="rId12"/>
    <p:sldId id="351" r:id="rId13"/>
    <p:sldId id="352" r:id="rId14"/>
    <p:sldId id="35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966" autoAdjust="0"/>
  </p:normalViewPr>
  <p:slideViewPr>
    <p:cSldViewPr snapToGrid="0">
      <p:cViewPr varScale="1">
        <p:scale>
          <a:sx n="78" d="100"/>
          <a:sy n="78" d="100"/>
        </p:scale>
        <p:origin x="878"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12/2/2025</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12/2/2025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75476F-A808-1F46-A368-07984F6DA22E}" type="slidenum">
              <a:rPr lang="en-US" smtClean="0"/>
              <a:t>2</a:t>
            </a:fld>
            <a:endParaRPr lang="en-US" dirty="0"/>
          </a:p>
        </p:txBody>
      </p:sp>
    </p:spTree>
    <p:extLst>
      <p:ext uri="{BB962C8B-B14F-4D97-AF65-F5344CB8AC3E}">
        <p14:creationId xmlns:p14="http://schemas.microsoft.com/office/powerpoint/2010/main" val="3237519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D90036E-D78E-7995-BEF4-F64DA613C71D}"/>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408176" y="1463040"/>
            <a:ext cx="6327648" cy="2180543"/>
          </a:xfrm>
          <a:noFill/>
        </p:spPr>
        <p:txBody>
          <a:bodyPr anchor="b">
            <a:noAutofit/>
          </a:bodyPr>
          <a:lstStyle>
            <a:lvl1pPr algn="ctr">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911096" y="3995928"/>
            <a:ext cx="5321808" cy="824404"/>
          </a:xfrm>
          <a:noFill/>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099048" y="530352"/>
            <a:ext cx="5385816" cy="1810512"/>
          </a:xfrm>
        </p:spPr>
        <p:txBody>
          <a:bodyPr anchor="b">
            <a:normAutofit/>
          </a:bodyPr>
          <a:lstStyle>
            <a:lvl1pPr>
              <a:defRPr sz="40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1" y="0"/>
            <a:ext cx="5174458" cy="6858000"/>
          </a:xfrm>
        </p:spPr>
        <p:txBody>
          <a:bodyPr/>
          <a:lstStyle>
            <a:lvl1pPr marL="0" indent="0">
              <a:buNone/>
              <a:defRPr/>
            </a:lvl1pPr>
          </a:lstStyle>
          <a:p>
            <a:r>
              <a:rPr lang="en-US"/>
              <a:t>Click icon to add picture</a:t>
            </a:r>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099048" y="2962656"/>
            <a:ext cx="5385816" cy="2706624"/>
          </a:xfrm>
        </p:spPr>
        <p:txBody>
          <a:bodyPr>
            <a:normAutofit/>
          </a:bodyPr>
          <a:lstStyle>
            <a:lvl1pPr marL="0" indent="0">
              <a:lnSpc>
                <a:spcPct val="10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6099048"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11234928" y="6356350"/>
            <a:ext cx="716280" cy="365125"/>
          </a:xfrm>
        </p:spPr>
        <p:txBody>
          <a:bodyPr/>
          <a:lstStyle/>
          <a:p>
            <a:fld id="{294A09A9-5501-47C1-A89A-A340965A2BE2}" type="slidenum">
              <a:rPr lang="en-US" smtClean="0"/>
              <a:t>‹#›</a:t>
            </a:fld>
            <a:endParaRPr lang="en-US" dirty="0"/>
          </a:p>
        </p:txBody>
      </p:sp>
      <p:sp>
        <p:nvSpPr>
          <p:cNvPr id="10" name="Rectangle 9">
            <a:extLst>
              <a:ext uri="{FF2B5EF4-FFF2-40B4-BE49-F238E27FC236}">
                <a16:creationId xmlns:a16="http://schemas.microsoft.com/office/drawing/2014/main" id="{DCAF8C32-80F8-F614-8280-02F76781F238}"/>
              </a:ext>
            </a:extLst>
          </p:cNvPr>
          <p:cNvSpPr/>
          <p:nvPr userDrawn="1"/>
        </p:nvSpPr>
        <p:spPr>
          <a:xfrm>
            <a:off x="5174459" y="0"/>
            <a:ext cx="45719"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02CB607F-27CE-D613-F812-E70C738FA04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34723"/>
          <a:stretch/>
        </p:blipFill>
        <p:spPr>
          <a:xfrm>
            <a:off x="9959711" y="738051"/>
            <a:ext cx="2232289" cy="5381892"/>
          </a:xfrm>
          <a:prstGeom prst="rect">
            <a:avLst/>
          </a:prstGeom>
        </p:spPr>
      </p:pic>
      <p:cxnSp>
        <p:nvCxnSpPr>
          <p:cNvPr id="4" name="Straight Connector 3">
            <a:extLst>
              <a:ext uri="{FF2B5EF4-FFF2-40B4-BE49-F238E27FC236}">
                <a16:creationId xmlns:a16="http://schemas.microsoft.com/office/drawing/2014/main" id="{0A689F60-3D32-FD74-24A9-266643081E85}"/>
              </a:ext>
            </a:extLst>
          </p:cNvPr>
          <p:cNvCxnSpPr>
            <a:cxnSpLocks/>
          </p:cNvCxnSpPr>
          <p:nvPr userDrawn="1"/>
        </p:nvCxnSpPr>
        <p:spPr>
          <a:xfrm>
            <a:off x="6189979" y="2649682"/>
            <a:ext cx="332598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10;&#10;Description automatically generated">
            <a:extLst>
              <a:ext uri="{FF2B5EF4-FFF2-40B4-BE49-F238E27FC236}">
                <a16:creationId xmlns:a16="http://schemas.microsoft.com/office/drawing/2014/main" id="{B827D708-B036-EE04-B213-EC3EAAE0681B}"/>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9029920" y="2509197"/>
            <a:ext cx="972078" cy="285381"/>
          </a:xfrm>
          <a:prstGeom prst="rect">
            <a:avLst/>
          </a:prstGeom>
        </p:spPr>
      </p:pic>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81912" y="2185416"/>
            <a:ext cx="9052560" cy="2487168"/>
          </a:xfrm>
          <a:noFill/>
        </p:spPr>
        <p:txBody>
          <a:bodyPr anchor="ctr">
            <a:noAutofit/>
          </a:bodyPr>
          <a:lstStyle>
            <a:lvl1pPr algn="ctr">
              <a:defRPr sz="48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F691F67-3A33-EA2C-967A-86934DA1D47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401" b="24659"/>
          <a:stretch/>
        </p:blipFill>
        <p:spPr>
          <a:xfrm>
            <a:off x="5856445" y="726334"/>
            <a:ext cx="1898043" cy="540533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1792" y="722376"/>
            <a:ext cx="6419088" cy="2350008"/>
          </a:xfrm>
        </p:spPr>
        <p:txBody>
          <a:bodyPr anchor="b">
            <a:normAutofit/>
          </a:bodyPr>
          <a:lstStyle>
            <a:lvl1pPr algn="ctr">
              <a:defRPr sz="4400"/>
            </a:lvl1pPr>
          </a:lstStyle>
          <a:p>
            <a:r>
              <a:rPr lang="en-US"/>
              <a:t>Click to edit Master title style</a:t>
            </a:r>
            <a:endParaRPr lang="en-US" dirty="0"/>
          </a:p>
        </p:txBody>
      </p:sp>
      <p:sp>
        <p:nvSpPr>
          <p:cNvPr id="13" name="Subtitle 2">
            <a:extLst>
              <a:ext uri="{FF2B5EF4-FFF2-40B4-BE49-F238E27FC236}">
                <a16:creationId xmlns:a16="http://schemas.microsoft.com/office/drawing/2014/main" id="{F6B0D1AB-E9D6-841F-7178-F60F07AF3B37}"/>
              </a:ext>
            </a:extLst>
          </p:cNvPr>
          <p:cNvSpPr>
            <a:spLocks noGrp="1"/>
          </p:cNvSpPr>
          <p:nvPr>
            <p:ph type="subTitle" idx="1"/>
          </p:nvPr>
        </p:nvSpPr>
        <p:spPr>
          <a:xfrm>
            <a:off x="640079" y="3931920"/>
            <a:ext cx="6419088" cy="1389888"/>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7754488" y="0"/>
            <a:ext cx="4434464" cy="6858000"/>
          </a:xfrm>
        </p:spPr>
        <p:txBody>
          <a:bodyPr/>
          <a:lstStyle>
            <a:lvl1pPr marL="0" indent="0">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DB41B1E5-0891-6540-C6C6-2E4CF929E2D5}"/>
              </a:ext>
            </a:extLst>
          </p:cNvPr>
          <p:cNvCxnSpPr>
            <a:cxnSpLocks/>
          </p:cNvCxnSpPr>
          <p:nvPr userDrawn="1"/>
        </p:nvCxnSpPr>
        <p:spPr>
          <a:xfrm>
            <a:off x="1679972" y="3432325"/>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2" name="Picture 11" descr="A picture containing text&#10;&#10;Description automatically generated">
            <a:extLst>
              <a:ext uri="{FF2B5EF4-FFF2-40B4-BE49-F238E27FC236}">
                <a16:creationId xmlns:a16="http://schemas.microsoft.com/office/drawing/2014/main" id="{2CA6CDBD-54C9-2154-A4D6-F432B3CF27F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3343169" y="3291840"/>
            <a:ext cx="972078" cy="285381"/>
          </a:xfrm>
          <a:prstGeom prst="rect">
            <a:avLst/>
          </a:prstGeom>
        </p:spPr>
      </p:pic>
      <p:sp>
        <p:nvSpPr>
          <p:cNvPr id="14" name="Rectangle 13">
            <a:extLst>
              <a:ext uri="{FF2B5EF4-FFF2-40B4-BE49-F238E27FC236}">
                <a16:creationId xmlns:a16="http://schemas.microsoft.com/office/drawing/2014/main" id="{57541814-983F-1B1C-1D5D-EBAC0D9BEB4C}"/>
              </a:ext>
            </a:extLst>
          </p:cNvPr>
          <p:cNvSpPr/>
          <p:nvPr userDrawn="1"/>
        </p:nvSpPr>
        <p:spPr>
          <a:xfrm>
            <a:off x="7711438"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2317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7528785" y="-1437953"/>
            <a:ext cx="3225262" cy="6101168"/>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0"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1408176"/>
            <a:ext cx="3392424" cy="4014216"/>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724144" y="1536192"/>
            <a:ext cx="5696712" cy="3758184"/>
          </a:xfrm>
        </p:spPr>
        <p:txBody>
          <a:bodyPr/>
          <a:lstStyle>
            <a:lvl1pPr>
              <a:spcAft>
                <a:spcPts val="600"/>
              </a:spcAft>
              <a:buClr>
                <a:schemeClr val="accent2"/>
              </a:buClr>
              <a:defRPr sz="2200"/>
            </a:lvl1pPr>
            <a:lvl2pPr>
              <a:buClr>
                <a:schemeClr val="accent2"/>
              </a:buClr>
              <a:defRPr sz="2000"/>
            </a:lvl2pPr>
            <a:lvl3pPr>
              <a:buClr>
                <a:schemeClr val="accent2"/>
              </a:buClr>
              <a:defRPr sz="1800"/>
            </a:lvl3pPr>
            <a:lvl4pPr>
              <a:buClr>
                <a:schemeClr val="accent2"/>
              </a:buClr>
              <a:defRPr sz="1600"/>
            </a:lvl4pPr>
            <a:lvl5pPr>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724144"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sp>
        <p:nvSpPr>
          <p:cNvPr id="10" name="Rectangle 9">
            <a:extLst>
              <a:ext uri="{FF2B5EF4-FFF2-40B4-BE49-F238E27FC236}">
                <a16:creationId xmlns:a16="http://schemas.microsoft.com/office/drawing/2014/main" id="{377048F4-9454-D035-3356-DD623DFCEE42}"/>
              </a:ext>
            </a:extLst>
          </p:cNvPr>
          <p:cNvSpPr/>
          <p:nvPr userDrawn="1"/>
        </p:nvSpPr>
        <p:spPr>
          <a:xfrm rot="5400000">
            <a:off x="1361771"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0420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with Subtitle">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27048" y="2276856"/>
            <a:ext cx="9144000" cy="1508760"/>
          </a:xfrm>
          <a:noFill/>
        </p:spPr>
        <p:txBody>
          <a:bodyPr anchor="ctr">
            <a:noAutofit/>
          </a:bodyPr>
          <a:lstStyle>
            <a:lvl1pPr algn="ctr">
              <a:defRPr sz="4800">
                <a:solidFill>
                  <a:schemeClr val="bg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527048" y="3858768"/>
            <a:ext cx="9144000" cy="841248"/>
          </a:xfrm>
          <a:noFill/>
        </p:spPr>
        <p:txBody>
          <a:bodyPr anchor="t"/>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93911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6684264"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68098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7F52C37-6A33-FD57-31EC-516F581DF13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7420" b="36176"/>
          <a:stretch/>
        </p:blipFill>
        <p:spPr>
          <a:xfrm>
            <a:off x="0" y="2510651"/>
            <a:ext cx="2841744" cy="4347350"/>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7397496"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8101584" y="1408176"/>
            <a:ext cx="3392424" cy="4014216"/>
          </a:xfrm>
        </p:spPr>
        <p:txBody>
          <a:bodyPr/>
          <a:lstStyle>
            <a:lvl1pPr>
              <a:defRPr>
                <a:solidFill>
                  <a:schemeClr val="bg1"/>
                </a:solidFill>
              </a:defRPr>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685800"/>
            <a:ext cx="5276088" cy="1563624"/>
          </a:xfrm>
        </p:spPr>
        <p:txBody>
          <a:bodyPr>
            <a:noAutofit/>
          </a:bodyPr>
          <a:lstStyle>
            <a:lvl1pPr marL="457200" indent="-457200">
              <a:lnSpc>
                <a:spcPct val="100000"/>
              </a:lnSpc>
              <a:spcBef>
                <a:spcPts val="1000"/>
              </a:spcBef>
              <a:spcAft>
                <a:spcPts val="0"/>
              </a:spcAft>
              <a:buClr>
                <a:schemeClr val="accent2"/>
              </a:buClr>
              <a:buFont typeface="+mj-lt"/>
              <a:buAutoNum type="arabicPeriod"/>
              <a:defRPr sz="2400">
                <a:solidFill>
                  <a:schemeClr val="tx2">
                    <a:lumMod val="25000"/>
                  </a:schemeClr>
                </a:solidFill>
              </a:defRPr>
            </a:lvl1pPr>
            <a:lvl2pPr marL="914400" indent="-457200">
              <a:buClr>
                <a:schemeClr val="accent2"/>
              </a:buClr>
              <a:buFont typeface="+mj-lt"/>
              <a:buAutoNum type="alphaLcPeriod"/>
              <a:defRPr sz="2400">
                <a:solidFill>
                  <a:schemeClr val="tx2">
                    <a:lumMod val="25000"/>
                  </a:schemeClr>
                </a:solidFill>
              </a:defRPr>
            </a:lvl2pPr>
            <a:lvl3pPr marL="1371600" indent="-457200">
              <a:buClr>
                <a:schemeClr val="accent2"/>
              </a:buClr>
              <a:buFont typeface="+mj-lt"/>
              <a:buAutoNum type="romanLcPeriod"/>
              <a:defRPr sz="2000">
                <a:solidFill>
                  <a:schemeClr val="tx2">
                    <a:lumMod val="25000"/>
                  </a:schemeClr>
                </a:solidFill>
              </a:defRPr>
            </a:lvl3pPr>
            <a:lvl4pPr marL="1714500" indent="-342900">
              <a:buClr>
                <a:schemeClr val="accent2"/>
              </a:buClr>
              <a:buFont typeface="+mj-lt"/>
              <a:buAutoNum type="arabicParenR"/>
              <a:defRPr sz="1800">
                <a:solidFill>
                  <a:schemeClr val="tx2">
                    <a:lumMod val="25000"/>
                  </a:schemeClr>
                </a:solidFill>
              </a:defRPr>
            </a:lvl4pPr>
            <a:lvl5pPr marL="2171700" indent="-342900">
              <a:buClr>
                <a:schemeClr val="accent2"/>
              </a:buClr>
              <a:buFont typeface="+mj-lt"/>
              <a:buAutoNum type="alphaLcParen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8">
            <a:extLst>
              <a:ext uri="{FF2B5EF4-FFF2-40B4-BE49-F238E27FC236}">
                <a16:creationId xmlns:a16="http://schemas.microsoft.com/office/drawing/2014/main" id="{EC526101-2775-A309-0B4A-DB278C3974D2}"/>
              </a:ext>
            </a:extLst>
          </p:cNvPr>
          <p:cNvSpPr>
            <a:spLocks noGrp="1"/>
          </p:cNvSpPr>
          <p:nvPr>
            <p:ph sz="quarter" idx="13"/>
          </p:nvPr>
        </p:nvSpPr>
        <p:spPr>
          <a:xfrm>
            <a:off x="932688" y="2697480"/>
            <a:ext cx="5276088" cy="348386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1800">
                <a:solidFill>
                  <a:schemeClr val="tx2">
                    <a:lumMod val="25000"/>
                  </a:schemeClr>
                </a:solidFill>
              </a:defRPr>
            </a:lvl3pPr>
            <a:lvl4pPr marL="1143000">
              <a:buClr>
                <a:schemeClr val="accent2"/>
              </a:buClr>
              <a:defRPr sz="1600">
                <a:solidFill>
                  <a:schemeClr val="tx2">
                    <a:lumMod val="25000"/>
                  </a:schemeClr>
                </a:solidFill>
              </a:defRPr>
            </a:lvl4pPr>
            <a:lvl5pPr marL="1600200">
              <a:buClr>
                <a:schemeClr val="accent2"/>
              </a:buClr>
              <a:defRPr sz="14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lvl1pPr>
              <a:defRPr>
                <a:solidFill>
                  <a:schemeClr val="bg1"/>
                </a:solidFill>
              </a:defRPr>
            </a:lvl1pPr>
          </a:lstStyle>
          <a:p>
            <a:fld id="{294A09A9-5501-47C1-A89A-A340965A2BE2}" type="slidenum">
              <a:rPr lang="en-US" smtClean="0"/>
              <a:pPr/>
              <a:t>‹#›</a:t>
            </a:fld>
            <a:endParaRPr lang="en-US" dirty="0"/>
          </a:p>
        </p:txBody>
      </p:sp>
      <p:pic>
        <p:nvPicPr>
          <p:cNvPr id="12" name="Graphic 11">
            <a:extLst>
              <a:ext uri="{FF2B5EF4-FFF2-40B4-BE49-F238E27FC236}">
                <a16:creationId xmlns:a16="http://schemas.microsoft.com/office/drawing/2014/main" id="{45719EF3-43BC-5F74-7396-273F72ED3CB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8001534" y="4944272"/>
            <a:ext cx="3848748" cy="1913728"/>
          </a:xfrm>
          <a:prstGeom prst="rect">
            <a:avLst/>
          </a:prstGeom>
        </p:spPr>
      </p:pic>
      <p:sp>
        <p:nvSpPr>
          <p:cNvPr id="13" name="Rectangle 12">
            <a:extLst>
              <a:ext uri="{FF2B5EF4-FFF2-40B4-BE49-F238E27FC236}">
                <a16:creationId xmlns:a16="http://schemas.microsoft.com/office/drawing/2014/main" id="{137D205C-32E5-5A54-8D89-CB56198B06E5}"/>
              </a:ext>
            </a:extLst>
          </p:cNvPr>
          <p:cNvSpPr/>
          <p:nvPr userDrawn="1"/>
        </p:nvSpPr>
        <p:spPr>
          <a:xfrm rot="5400000">
            <a:off x="3949200"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87182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16D97AE-EB24-C3DA-21A1-E8EE4631ACE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118" r="47395" b="22709"/>
          <a:stretch/>
        </p:blipFill>
        <p:spPr>
          <a:xfrm flipH="1">
            <a:off x="4448831" y="805912"/>
            <a:ext cx="1464735" cy="4961437"/>
          </a:xfrm>
          <a:prstGeom prst="rect">
            <a:avLst/>
          </a:prstGeom>
        </p:spPr>
      </p:pic>
      <p:sp>
        <p:nvSpPr>
          <p:cNvPr id="10" name="Rectangle 9">
            <a:extLst>
              <a:ext uri="{FF2B5EF4-FFF2-40B4-BE49-F238E27FC236}">
                <a16:creationId xmlns:a16="http://schemas.microsoft.com/office/drawing/2014/main" id="{5CBF43B9-3946-05E6-521F-EE4BB59B49D0}"/>
              </a:ext>
            </a:extLst>
          </p:cNvPr>
          <p:cNvSpPr/>
          <p:nvPr userDrawn="1"/>
        </p:nvSpPr>
        <p:spPr>
          <a:xfrm>
            <a:off x="4434840"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E14DEF57-E0D6-D7CA-5D3C-FC97EAB0620A}"/>
              </a:ext>
            </a:extLst>
          </p:cNvPr>
          <p:cNvSpPr>
            <a:spLocks noGrp="1"/>
          </p:cNvSpPr>
          <p:nvPr>
            <p:ph type="title"/>
          </p:nvPr>
        </p:nvSpPr>
        <p:spPr>
          <a:xfrm>
            <a:off x="5193792" y="557784"/>
            <a:ext cx="6419088" cy="1929384"/>
          </a:xfrm>
        </p:spPr>
        <p:txBody>
          <a:bodyPr anchor="b">
            <a:normAutofit/>
          </a:bodyPr>
          <a:lstStyle>
            <a:lvl1pPr algn="ctr">
              <a:defRPr sz="4400"/>
            </a:lvl1pPr>
          </a:lstStyle>
          <a:p>
            <a:r>
              <a:rPr lang="en-US"/>
              <a:t>Click to edit Master title style</a:t>
            </a:r>
            <a:endParaRPr lang="en-US" dirty="0"/>
          </a:p>
        </p:txBody>
      </p:sp>
      <p:sp>
        <p:nvSpPr>
          <p:cNvPr id="8" name="Picture Placeholder 6">
            <a:extLst>
              <a:ext uri="{FF2B5EF4-FFF2-40B4-BE49-F238E27FC236}">
                <a16:creationId xmlns:a16="http://schemas.microsoft.com/office/drawing/2014/main" id="{930B4666-31C5-1F2B-27D9-2A9F6EC970DD}"/>
              </a:ext>
            </a:extLst>
          </p:cNvPr>
          <p:cNvSpPr>
            <a:spLocks noGrp="1"/>
          </p:cNvSpPr>
          <p:nvPr>
            <p:ph type="pic" sz="quarter" idx="13"/>
          </p:nvPr>
        </p:nvSpPr>
        <p:spPr>
          <a:xfrm>
            <a:off x="0" y="0"/>
            <a:ext cx="4434464" cy="6858000"/>
          </a:xfrm>
        </p:spPr>
        <p:txBody>
          <a:bodyPr/>
          <a:lstStyle>
            <a:lvl1pPr marL="0" indent="0">
              <a:buNone/>
              <a:defRPr/>
            </a:lvl1pPr>
          </a:lstStyle>
          <a:p>
            <a:r>
              <a:rPr lang="en-US"/>
              <a:t>Click icon to add picture</a:t>
            </a:r>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193792" y="3328416"/>
            <a:ext cx="6419088" cy="2441448"/>
          </a:xfrm>
        </p:spPr>
        <p:txBody>
          <a:bodyPr/>
          <a:lstStyle>
            <a:lvl1pPr marL="0" indent="0" algn="ctr">
              <a:lnSpc>
                <a:spcPct val="90000"/>
              </a:lnSpc>
              <a:spcAft>
                <a:spcPts val="1200"/>
              </a:spcAft>
              <a:buClr>
                <a:schemeClr val="accent2"/>
              </a:buClr>
              <a:buNone/>
              <a:defRPr sz="2400">
                <a:solidFill>
                  <a:schemeClr val="tx2">
                    <a:lumMod val="25000"/>
                  </a:schemeClr>
                </a:solidFill>
              </a:defRPr>
            </a:lvl1pPr>
            <a:lvl2pPr algn="ctr">
              <a:buClr>
                <a:schemeClr val="accent2"/>
              </a:buClr>
              <a:defRPr sz="2000">
                <a:solidFill>
                  <a:schemeClr val="tx2">
                    <a:lumMod val="25000"/>
                  </a:schemeClr>
                </a:solidFill>
              </a:defRPr>
            </a:lvl2pPr>
            <a:lvl3pPr algn="ctr">
              <a:buClr>
                <a:schemeClr val="accent2"/>
              </a:buClr>
              <a:defRPr sz="1800">
                <a:solidFill>
                  <a:schemeClr val="tx2">
                    <a:lumMod val="25000"/>
                  </a:schemeClr>
                </a:solidFill>
              </a:defRPr>
            </a:lvl3pPr>
            <a:lvl4pPr algn="ctr">
              <a:buClr>
                <a:schemeClr val="accent2"/>
              </a:buClr>
              <a:defRPr sz="1600">
                <a:solidFill>
                  <a:schemeClr val="tx2">
                    <a:lumMod val="25000"/>
                  </a:schemeClr>
                </a:solidFill>
              </a:defRPr>
            </a:lvl4pPr>
            <a:lvl5pPr algn="ctr">
              <a:buClr>
                <a:schemeClr val="accent2"/>
              </a:buClr>
              <a:defRPr sz="14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193792"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cxnSp>
        <p:nvCxnSpPr>
          <p:cNvPr id="13" name="Straight Connector 12">
            <a:extLst>
              <a:ext uri="{FF2B5EF4-FFF2-40B4-BE49-F238E27FC236}">
                <a16:creationId xmlns:a16="http://schemas.microsoft.com/office/drawing/2014/main" id="{689EEBF9-800C-88AE-FE83-60B5F47AFC14}"/>
              </a:ext>
            </a:extLst>
          </p:cNvPr>
          <p:cNvCxnSpPr>
            <a:cxnSpLocks/>
          </p:cNvCxnSpPr>
          <p:nvPr userDrawn="1"/>
        </p:nvCxnSpPr>
        <p:spPr>
          <a:xfrm>
            <a:off x="6174481" y="2843389"/>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text&#10;&#10;Description automatically generated">
            <a:extLst>
              <a:ext uri="{FF2B5EF4-FFF2-40B4-BE49-F238E27FC236}">
                <a16:creationId xmlns:a16="http://schemas.microsoft.com/office/drawing/2014/main" id="{301D77B6-9ED1-094C-66A3-7D5AB0CDEA4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7914042" y="2702904"/>
            <a:ext cx="972078" cy="285381"/>
          </a:xfrm>
          <a:prstGeom prst="rect">
            <a:avLst/>
          </a:prstGeom>
        </p:spPr>
      </p:pic>
    </p:spTree>
    <p:extLst>
      <p:ext uri="{BB962C8B-B14F-4D97-AF65-F5344CB8AC3E}">
        <p14:creationId xmlns:p14="http://schemas.microsoft.com/office/powerpoint/2010/main" val="1942649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770632"/>
            <a:ext cx="2487168" cy="3502152"/>
          </a:xfrm>
        </p:spPr>
        <p:txBody>
          <a:bodyPr lIns="91440" rIns="91440"/>
          <a:lstStyle>
            <a:lvl1pPr marL="0" indent="0">
              <a:spcAft>
                <a:spcPts val="120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3785616" y="2770632"/>
            <a:ext cx="7571232"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73990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432304"/>
            <a:ext cx="6163056" cy="3739896"/>
          </a:xfrm>
        </p:spPr>
        <p:txBody>
          <a:bodyPr lIns="91440" rIns="91440"/>
          <a:lstStyle>
            <a:lvl1pPr marL="228600" indent="-228600">
              <a:spcAft>
                <a:spcPts val="0"/>
              </a:spcAft>
              <a:buClr>
                <a:schemeClr val="accent2"/>
              </a:buClr>
              <a:buFont typeface="Arial" panose="020B0604020202020204" pitchFamily="34" charset="0"/>
              <a:buChar char="•"/>
              <a:defRPr sz="2400">
                <a:solidFill>
                  <a:schemeClr val="tx2">
                    <a:lumMod val="25000"/>
                  </a:schemeClr>
                </a:solidFill>
              </a:defRPr>
            </a:lvl1pPr>
            <a:lvl2pPr marL="685800">
              <a:spcBef>
                <a:spcPts val="500"/>
              </a:spcBef>
              <a:buClr>
                <a:schemeClr val="accent2"/>
              </a:buClr>
              <a:defRPr sz="2400">
                <a:solidFill>
                  <a:schemeClr val="tx2">
                    <a:lumMod val="25000"/>
                  </a:schemeClr>
                </a:solidFill>
              </a:defRPr>
            </a:lvl2pPr>
            <a:lvl3pPr marL="1143000">
              <a:buClr>
                <a:schemeClr val="accent2"/>
              </a:buClr>
              <a:defRPr sz="2000">
                <a:solidFill>
                  <a:schemeClr val="tx2">
                    <a:lumMod val="25000"/>
                  </a:schemeClr>
                </a:solidFill>
              </a:defRPr>
            </a:lvl3pPr>
            <a:lvl4pPr marL="1600200">
              <a:buClr>
                <a:schemeClr val="accent2"/>
              </a:buClr>
              <a:defRPr sz="1800">
                <a:solidFill>
                  <a:schemeClr val="tx2">
                    <a:lumMod val="25000"/>
                  </a:schemeClr>
                </a:solidFill>
              </a:defRPr>
            </a:lvl4pPr>
            <a:lvl5pPr marL="20574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7424928" y="2441448"/>
            <a:ext cx="4169664" cy="3703320"/>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1EB1C5A3-22FF-382D-3801-B6D9C4AC53E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52051"/>
          <a:stretch/>
        </p:blipFill>
        <p:spPr>
          <a:xfrm>
            <a:off x="4629335" y="1815780"/>
            <a:ext cx="5586493" cy="5042220"/>
          </a:xfrm>
          <a:prstGeom prst="rect">
            <a:avLst/>
          </a:prstGeom>
        </p:spPr>
      </p:pic>
    </p:spTree>
    <p:extLst>
      <p:ext uri="{BB962C8B-B14F-4D97-AF65-F5344CB8AC3E}">
        <p14:creationId xmlns:p14="http://schemas.microsoft.com/office/powerpoint/2010/main" val="659767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841248" y="2770632"/>
            <a:ext cx="10515600"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20999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627632" y="822960"/>
            <a:ext cx="6327648" cy="2221992"/>
          </a:xfrm>
          <a:noFill/>
        </p:spPr>
        <p:txBody>
          <a:bodyPr anchor="b">
            <a:noAutofit/>
          </a:bodyPr>
          <a:lstStyle>
            <a:lvl1pPr algn="l">
              <a:defRPr sz="4800">
                <a:solidFill>
                  <a:schemeClr val="bg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627632" y="3428999"/>
            <a:ext cx="6309360" cy="1703439"/>
          </a:xfrm>
          <a:noFill/>
        </p:spPr>
        <p:txBody>
          <a:bodyPr anchor="t">
            <a:normAutofit/>
          </a:bodyPr>
          <a:lstStyle>
            <a:lvl1pPr marL="0" indent="0" algn="l">
              <a:lnSpc>
                <a:spcPct val="130000"/>
              </a:lnSpc>
              <a:spcBef>
                <a:spcPts val="0"/>
              </a:spcBef>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016006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3810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1026140" y="6356350"/>
            <a:ext cx="78486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76" r:id="rId4"/>
    <p:sldLayoutId id="2147483678" r:id="rId5"/>
    <p:sldLayoutId id="2147483684" r:id="rId6"/>
    <p:sldLayoutId id="2147483677" r:id="rId7"/>
    <p:sldLayoutId id="2147483679" r:id="rId8"/>
    <p:sldLayoutId id="2147483680" r:id="rId9"/>
    <p:sldLayoutId id="2147483681" r:id="rId10"/>
    <p:sldLayoutId id="2147483682" r:id="rId11"/>
    <p:sldLayoutId id="2147483683" r:id="rId12"/>
    <p:sldLayoutId id="2147483685" r:id="rId13"/>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3.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bouquet of flowers">
            <a:extLst>
              <a:ext uri="{FF2B5EF4-FFF2-40B4-BE49-F238E27FC236}">
                <a16:creationId xmlns:a16="http://schemas.microsoft.com/office/drawing/2014/main" id="{2E09DD34-43D4-3713-535D-7E9D95D3F4B1}"/>
              </a:ext>
            </a:extLst>
          </p:cNvPr>
          <p:cNvPicPr>
            <a:picLocks noGrp="1" noChangeAspect="1"/>
          </p:cNvPicPr>
          <p:nvPr>
            <p:ph type="pic" sz="quarter" idx="10"/>
          </p:nvPr>
        </p:nvPicPr>
        <p:blipFill>
          <a:blip r:embed="rId2"/>
          <a:srcRect/>
          <a:stretch/>
        </p:blipFill>
        <p:spPr>
          <a:xfrm>
            <a:off x="0" y="0"/>
            <a:ext cx="12192000" cy="6858000"/>
          </a:xfrm>
        </p:spPr>
      </p:pic>
      <p:sp>
        <p:nvSpPr>
          <p:cNvPr id="3" name="Title 2">
            <a:extLst>
              <a:ext uri="{FF2B5EF4-FFF2-40B4-BE49-F238E27FC236}">
                <a16:creationId xmlns:a16="http://schemas.microsoft.com/office/drawing/2014/main" id="{6F9772E4-10E9-13DE-8AE8-35BBB9DD1D9A}"/>
              </a:ext>
            </a:extLst>
          </p:cNvPr>
          <p:cNvSpPr>
            <a:spLocks noGrp="1"/>
          </p:cNvSpPr>
          <p:nvPr>
            <p:ph type="ctrTitle"/>
          </p:nvPr>
        </p:nvSpPr>
        <p:spPr>
          <a:xfrm>
            <a:off x="1408176" y="1463040"/>
            <a:ext cx="6327648" cy="2180543"/>
          </a:xfrm>
        </p:spPr>
        <p:txBody>
          <a:bodyPr/>
          <a:lstStyle/>
          <a:p>
            <a:r>
              <a:rPr lang="en-US" dirty="0"/>
              <a:t>DATA COLLECTION AND MARKET SURVEY</a:t>
            </a:r>
          </a:p>
        </p:txBody>
      </p:sp>
      <p:sp>
        <p:nvSpPr>
          <p:cNvPr id="4" name="Subtitle 3">
            <a:extLst>
              <a:ext uri="{FF2B5EF4-FFF2-40B4-BE49-F238E27FC236}">
                <a16:creationId xmlns:a16="http://schemas.microsoft.com/office/drawing/2014/main" id="{F7C09E8F-C241-2F75-70EA-32EC69551E74}"/>
              </a:ext>
            </a:extLst>
          </p:cNvPr>
          <p:cNvSpPr>
            <a:spLocks noGrp="1"/>
          </p:cNvSpPr>
          <p:nvPr>
            <p:ph type="subTitle" idx="1"/>
          </p:nvPr>
        </p:nvSpPr>
        <p:spPr>
          <a:xfrm>
            <a:off x="1911096" y="3995928"/>
            <a:ext cx="5321808" cy="824404"/>
          </a:xfrm>
        </p:spPr>
        <p:txBody>
          <a:bodyPr/>
          <a:lstStyle/>
          <a:p>
            <a:r>
              <a:rPr lang="en-US" dirty="0"/>
              <a:t>MADHURI RAO</a:t>
            </a:r>
          </a:p>
        </p:txBody>
      </p:sp>
      <p:cxnSp>
        <p:nvCxnSpPr>
          <p:cNvPr id="12" name="Straight Connector 11">
            <a:extLst>
              <a:ext uri="{FF2B5EF4-FFF2-40B4-BE49-F238E27FC236}">
                <a16:creationId xmlns:a16="http://schemas.microsoft.com/office/drawing/2014/main" id="{9318DF20-A4C4-3800-A69E-4E11F5A11C08}"/>
              </a:ext>
              <a:ext uri="{C183D7F6-B498-43B3-948B-1728B52AA6E4}">
                <adec:decorative xmlns:adec="http://schemas.microsoft.com/office/drawing/2017/decorative" val="1"/>
              </a:ext>
            </a:extLst>
          </p:cNvPr>
          <p:cNvCxnSpPr>
            <a:cxnSpLocks/>
          </p:cNvCxnSpPr>
          <p:nvPr/>
        </p:nvCxnSpPr>
        <p:spPr>
          <a:xfrm>
            <a:off x="1915117" y="3822700"/>
            <a:ext cx="53213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Plaque 12">
            <a:extLst>
              <a:ext uri="{FF2B5EF4-FFF2-40B4-BE49-F238E27FC236}">
                <a16:creationId xmlns:a16="http://schemas.microsoft.com/office/drawing/2014/main" id="{AC9EB422-5602-36FF-E543-5B0C70E56E9A}"/>
              </a:ext>
              <a:ext uri="{C183D7F6-B498-43B3-948B-1728B52AA6E4}">
                <adec:decorative xmlns:adec="http://schemas.microsoft.com/office/drawing/2017/decorative" val="1"/>
              </a:ext>
            </a:extLst>
          </p:cNvPr>
          <p:cNvSpPr/>
          <p:nvPr/>
        </p:nvSpPr>
        <p:spPr>
          <a:xfrm>
            <a:off x="1184867" y="1269576"/>
            <a:ext cx="6781800" cy="4343824"/>
          </a:xfrm>
          <a:prstGeom prst="plaque">
            <a:avLst>
              <a:gd name="adj" fmla="val 7602"/>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A053B63A-99EB-DBC1-DE80-E5E5214EF4EE}"/>
              </a:ext>
              <a:ext uri="{C183D7F6-B498-43B3-948B-1728B52AA6E4}">
                <adec:decorative xmlns:adec="http://schemas.microsoft.com/office/drawing/2017/decorative" val="1"/>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35000"/>
                    </a14:imgEffect>
                  </a14:imgLayer>
                </a14:imgProps>
              </a:ext>
              <a:ext uri="{28A0092B-C50C-407E-A947-70E740481C1C}">
                <a14:useLocalDpi xmlns:a14="http://schemas.microsoft.com/office/drawing/2010/main"/>
              </a:ext>
            </a:extLst>
          </a:blip>
          <a:stretch>
            <a:fillRect/>
          </a:stretch>
        </p:blipFill>
        <p:spPr>
          <a:xfrm>
            <a:off x="4089728" y="3681876"/>
            <a:ext cx="972078" cy="285381"/>
          </a:xfrm>
          <a:prstGeom prst="rect">
            <a:avLst/>
          </a:prstGeom>
        </p:spPr>
      </p:pic>
    </p:spTree>
    <p:extLst>
      <p:ext uri="{BB962C8B-B14F-4D97-AF65-F5344CB8AC3E}">
        <p14:creationId xmlns:p14="http://schemas.microsoft.com/office/powerpoint/2010/main" val="85815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621792" y="722376"/>
            <a:ext cx="6419088" cy="2350008"/>
          </a:xfrm>
          <a:noFill/>
        </p:spPr>
        <p:txBody>
          <a:bodyPr>
            <a:noAutofit/>
          </a:bodyPr>
          <a:lstStyle/>
          <a:p>
            <a:r>
              <a:rPr lang="en-IN" b="1" i="0" dirty="0">
                <a:effectLst/>
                <a:latin typeface="var(--h2_typography-font-family)"/>
              </a:rPr>
              <a:t>DATA COLLECTION</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640079" y="3931920"/>
            <a:ext cx="6419088" cy="1389888"/>
          </a:xfrm>
          <a:noFill/>
        </p:spPr>
        <p:txBody>
          <a:bodyPr>
            <a:normAutofit fontScale="70000" lnSpcReduction="20000"/>
          </a:bodyPr>
          <a:lstStyle/>
          <a:p>
            <a:r>
              <a:rPr lang="en-US" b="0" i="0" dirty="0">
                <a:solidFill>
                  <a:srgbClr val="262A2E"/>
                </a:solidFill>
                <a:effectLst/>
                <a:latin typeface="Assistant" panose="020F0502020204030204" pitchFamily="2" charset="-79"/>
                <a:cs typeface="Assistant" panose="020F0502020204030204" pitchFamily="2" charset="-79"/>
              </a:rPr>
              <a:t>Data collection refers to the systematic process of gathering, measuring, and recording information or observations for the purpose of research, analysis, or decision-making. It involves the collection of both quantitative and qualitative data through various methods, such as surveys, interviews, observations, and experiments.</a:t>
            </a:r>
            <a:endParaRPr lang="en-US" dirty="0"/>
          </a:p>
        </p:txBody>
      </p:sp>
      <p:pic>
        <p:nvPicPr>
          <p:cNvPr id="9" name="Picture Placeholder 5" descr="A group of orange flowers">
            <a:extLst>
              <a:ext uri="{FF2B5EF4-FFF2-40B4-BE49-F238E27FC236}">
                <a16:creationId xmlns:a16="http://schemas.microsoft.com/office/drawing/2014/main" id="{B0E612D5-D631-0C31-BE9E-287392433299}"/>
              </a:ext>
            </a:extLst>
          </p:cNvPr>
          <p:cNvPicPr>
            <a:picLocks noGrp="1" noChangeAspect="1"/>
          </p:cNvPicPr>
          <p:nvPr>
            <p:ph type="pic" sz="quarter" idx="13"/>
          </p:nvPr>
        </p:nvPicPr>
        <p:blipFill rotWithShape="1">
          <a:blip r:embed="rId3" cstate="screen">
            <a:extLst>
              <a:ext uri="{BEBA8EAE-BF5A-486C-A8C5-ECC9F3942E4B}">
                <a14:imgProps xmlns:a14="http://schemas.microsoft.com/office/drawing/2010/main">
                  <a14:imgLayer r:embed="rId4">
                    <a14:imgEffect>
                      <a14:colorTemperature colorTemp="6501"/>
                    </a14:imgEffect>
                    <a14:imgEffect>
                      <a14:saturation sat="62000"/>
                    </a14:imgEffect>
                  </a14:imgLayer>
                </a14:imgProps>
              </a:ext>
              <a:ext uri="{28A0092B-C50C-407E-A947-70E740481C1C}">
                <a14:useLocalDpi xmlns:a14="http://schemas.microsoft.com/office/drawing/2010/main"/>
              </a:ext>
            </a:extLst>
          </a:blip>
          <a:srcRect/>
          <a:stretch/>
        </p:blipFill>
        <p:spPr>
          <a:xfrm>
            <a:off x="7754488" y="0"/>
            <a:ext cx="4434464" cy="6858000"/>
          </a:xfrm>
          <a:solidFill>
            <a:schemeClr val="bg1">
              <a:lumMod val="95000"/>
            </a:schemeClr>
          </a:solidFill>
        </p:spPr>
      </p:pic>
    </p:spTree>
    <p:extLst>
      <p:ext uri="{BB962C8B-B14F-4D97-AF65-F5344CB8AC3E}">
        <p14:creationId xmlns:p14="http://schemas.microsoft.com/office/powerpoint/2010/main" val="3541873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32688" y="1408176"/>
            <a:ext cx="3392424" cy="4014216"/>
          </a:xfrm>
          <a:noFill/>
        </p:spPr>
        <p:txBody>
          <a:bodyPr>
            <a:normAutofit/>
          </a:bodyPr>
          <a:lstStyle/>
          <a:p>
            <a:pPr algn="l"/>
            <a:r>
              <a:rPr lang="en-IN" b="1" i="0" dirty="0">
                <a:effectLst/>
                <a:latin typeface="var(--h3_typography-font-family)"/>
              </a:rPr>
              <a:t>Data Collection Important?</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2"/>
          </p:nvPr>
        </p:nvSpPr>
        <p:spPr>
          <a:xfrm>
            <a:off x="5724144" y="1536192"/>
            <a:ext cx="5696712" cy="3758184"/>
          </a:xfrm>
          <a:noFill/>
        </p:spPr>
        <p:txBody>
          <a:bodyPr vert="horz" lIns="91440" tIns="45720" rIns="91440" bIns="45720" rtlCol="0" anchor="t">
            <a:normAutofit/>
          </a:bodyPr>
          <a:lstStyle/>
          <a:p>
            <a:r>
              <a:rPr lang="en-IN" b="1" i="0" dirty="0">
                <a:solidFill>
                  <a:srgbClr val="262A2E"/>
                </a:solidFill>
                <a:effectLst/>
                <a:latin typeface="Assistant" pitchFamily="2" charset="-79"/>
                <a:cs typeface="Assistant" pitchFamily="2" charset="-79"/>
              </a:rPr>
              <a:t>Basis for decision-making</a:t>
            </a:r>
            <a:endParaRPr lang="en-IN" b="0" i="0" dirty="0">
              <a:solidFill>
                <a:srgbClr val="262A2E"/>
              </a:solidFill>
              <a:effectLst/>
              <a:latin typeface="Assistant" pitchFamily="2" charset="-79"/>
              <a:cs typeface="Assistant" pitchFamily="2" charset="-79"/>
            </a:endParaRPr>
          </a:p>
          <a:p>
            <a:r>
              <a:rPr lang="en-IN" b="1" i="0" dirty="0">
                <a:solidFill>
                  <a:srgbClr val="262A2E"/>
                </a:solidFill>
                <a:effectLst/>
                <a:latin typeface="Assistant" pitchFamily="2" charset="-79"/>
                <a:cs typeface="Assistant" pitchFamily="2" charset="-79"/>
              </a:rPr>
              <a:t>Supports research and analysis</a:t>
            </a:r>
            <a:endParaRPr lang="en-IN" dirty="0">
              <a:solidFill>
                <a:srgbClr val="262A2E"/>
              </a:solidFill>
              <a:latin typeface="Assistant" pitchFamily="2" charset="-79"/>
              <a:cs typeface="Assistant" pitchFamily="2" charset="-79"/>
            </a:endParaRPr>
          </a:p>
          <a:p>
            <a:r>
              <a:rPr lang="en-IN" b="1" i="0" dirty="0">
                <a:solidFill>
                  <a:srgbClr val="262A2E"/>
                </a:solidFill>
                <a:effectLst/>
                <a:latin typeface="Assistant" pitchFamily="2" charset="-79"/>
                <a:cs typeface="Assistant" pitchFamily="2" charset="-79"/>
              </a:rPr>
              <a:t>Identifies trends and patterns</a:t>
            </a:r>
            <a:endParaRPr lang="en-IN" b="0" i="0" dirty="0">
              <a:solidFill>
                <a:srgbClr val="262A2E"/>
              </a:solidFill>
              <a:effectLst/>
              <a:latin typeface="Assistant" pitchFamily="2" charset="-79"/>
              <a:cs typeface="Assistant" pitchFamily="2" charset="-79"/>
            </a:endParaRPr>
          </a:p>
          <a:p>
            <a:r>
              <a:rPr lang="en-IN" b="1" i="0" dirty="0">
                <a:solidFill>
                  <a:srgbClr val="262A2E"/>
                </a:solidFill>
                <a:effectLst/>
                <a:latin typeface="Assistant" pitchFamily="2" charset="-79"/>
                <a:cs typeface="Assistant" pitchFamily="2" charset="-79"/>
              </a:rPr>
              <a:t>Facilitates performance evaluation</a:t>
            </a:r>
            <a:r>
              <a:rPr lang="en-IN" b="0" i="0" dirty="0">
                <a:solidFill>
                  <a:srgbClr val="262A2E"/>
                </a:solidFill>
                <a:effectLst/>
                <a:latin typeface="Assistant" pitchFamily="2" charset="-79"/>
                <a:cs typeface="Assistant" pitchFamily="2" charset="-79"/>
              </a:rPr>
              <a:t> </a:t>
            </a:r>
            <a:endParaRPr lang="en-IN" dirty="0">
              <a:solidFill>
                <a:srgbClr val="262A2E"/>
              </a:solidFill>
              <a:latin typeface="Assistant" pitchFamily="2" charset="-79"/>
              <a:cs typeface="Assistant" pitchFamily="2" charset="-79"/>
            </a:endParaRPr>
          </a:p>
          <a:p>
            <a:r>
              <a:rPr lang="en-IN" b="1" i="0" dirty="0">
                <a:solidFill>
                  <a:srgbClr val="262A2E"/>
                </a:solidFill>
                <a:effectLst/>
                <a:latin typeface="Assistant" pitchFamily="2" charset="-79"/>
                <a:cs typeface="Assistant" pitchFamily="2" charset="-79"/>
              </a:rPr>
              <a:t>Supports evidence-based decision-making</a:t>
            </a:r>
          </a:p>
          <a:p>
            <a:r>
              <a:rPr lang="en-IN" b="1" i="0" dirty="0">
                <a:solidFill>
                  <a:srgbClr val="262A2E"/>
                </a:solidFill>
                <a:effectLst/>
                <a:latin typeface="Assistant" pitchFamily="2" charset="-79"/>
                <a:cs typeface="Assistant" pitchFamily="2" charset="-79"/>
              </a:rPr>
              <a:t>Enables monitoring and evaluation</a:t>
            </a:r>
            <a:endParaRPr lang="en-US" dirty="0"/>
          </a:p>
        </p:txBody>
      </p:sp>
      <p:sp>
        <p:nvSpPr>
          <p:cNvPr id="5" name="Slide Number Placeholder 4">
            <a:extLst>
              <a:ext uri="{FF2B5EF4-FFF2-40B4-BE49-F238E27FC236}">
                <a16:creationId xmlns:a16="http://schemas.microsoft.com/office/drawing/2014/main" id="{4398EC13-CC66-14BE-C305-D90EB840C4EC}"/>
              </a:ext>
            </a:extLst>
          </p:cNvPr>
          <p:cNvSpPr>
            <a:spLocks noGrp="1"/>
          </p:cNvSpPr>
          <p:nvPr>
            <p:ph type="sldNum" sz="quarter" idx="11"/>
          </p:nvPr>
        </p:nvSpPr>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1902424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270AC-601F-D537-3460-3FE09CC6AC14}"/>
              </a:ext>
            </a:extLst>
          </p:cNvPr>
          <p:cNvSpPr>
            <a:spLocks noGrp="1"/>
          </p:cNvSpPr>
          <p:nvPr>
            <p:ph type="title"/>
          </p:nvPr>
        </p:nvSpPr>
        <p:spPr>
          <a:xfrm>
            <a:off x="932688" y="228600"/>
            <a:ext cx="9528048" cy="1600200"/>
          </a:xfrm>
        </p:spPr>
        <p:txBody>
          <a:bodyPr/>
          <a:lstStyle/>
          <a:p>
            <a:pPr algn="l"/>
            <a:r>
              <a:rPr lang="en-US" b="1" i="0" dirty="0">
                <a:effectLst/>
                <a:latin typeface="var(--h2_typography-font-family)"/>
              </a:rPr>
              <a:t>Identifying the Target Audience and Data Requirements</a:t>
            </a:r>
          </a:p>
        </p:txBody>
      </p:sp>
      <p:sp>
        <p:nvSpPr>
          <p:cNvPr id="6" name="Content Placeholder 5">
            <a:extLst>
              <a:ext uri="{FF2B5EF4-FFF2-40B4-BE49-F238E27FC236}">
                <a16:creationId xmlns:a16="http://schemas.microsoft.com/office/drawing/2014/main" id="{9D5BB6B2-ED6A-BB7C-2FF7-FB659089012C}"/>
              </a:ext>
            </a:extLst>
          </p:cNvPr>
          <p:cNvSpPr>
            <a:spLocks noGrp="1"/>
          </p:cNvSpPr>
          <p:nvPr>
            <p:ph sz="quarter" idx="13"/>
          </p:nvPr>
        </p:nvSpPr>
        <p:spPr>
          <a:xfrm>
            <a:off x="639097" y="2454918"/>
            <a:ext cx="11159613" cy="3694176"/>
          </a:xfrm>
        </p:spPr>
        <p:txBody>
          <a:bodyPr/>
          <a:lstStyle/>
          <a:p>
            <a:pPr algn="l">
              <a:buFont typeface="+mj-lt"/>
              <a:buAutoNum type="arabicPeriod"/>
            </a:pPr>
            <a:r>
              <a:rPr lang="en-US" sz="2000" b="1" i="0" dirty="0">
                <a:solidFill>
                  <a:srgbClr val="262A2E"/>
                </a:solidFill>
                <a:effectLst/>
                <a:latin typeface="Assistant" pitchFamily="2" charset="-79"/>
                <a:cs typeface="Assistant" pitchFamily="2" charset="-79"/>
              </a:rPr>
              <a:t>Understand the target audience’s characteristics and needs</a:t>
            </a:r>
            <a:r>
              <a:rPr lang="en-US" sz="2000" b="0" i="0" dirty="0">
                <a:solidFill>
                  <a:srgbClr val="262A2E"/>
                </a:solidFill>
                <a:effectLst/>
                <a:latin typeface="Assistant" pitchFamily="2" charset="-79"/>
                <a:cs typeface="Assistant" pitchFamily="2" charset="-79"/>
              </a:rPr>
              <a:t>: Gain insights into the demographics, preferences, behaviors, and challenges of your target audience. This understanding will help you design data collection methods that resonate with them.</a:t>
            </a:r>
          </a:p>
          <a:p>
            <a:pPr algn="l">
              <a:buFont typeface="+mj-lt"/>
              <a:buAutoNum type="arabicPeriod"/>
            </a:pPr>
            <a:r>
              <a:rPr lang="en-US" sz="2000" b="1" i="0" dirty="0">
                <a:solidFill>
                  <a:srgbClr val="262A2E"/>
                </a:solidFill>
                <a:effectLst/>
                <a:latin typeface="Assistant" pitchFamily="2" charset="-79"/>
                <a:cs typeface="Assistant" pitchFamily="2" charset="-79"/>
              </a:rPr>
              <a:t>Define the specific data requirements for analysis</a:t>
            </a:r>
            <a:r>
              <a:rPr lang="en-US" sz="2000" b="0" i="0" dirty="0">
                <a:solidFill>
                  <a:srgbClr val="262A2E"/>
                </a:solidFill>
                <a:effectLst/>
                <a:latin typeface="Assistant" pitchFamily="2" charset="-79"/>
                <a:cs typeface="Assistant" pitchFamily="2" charset="-79"/>
              </a:rPr>
              <a:t>: Determine the specific data points and variables that are crucial for your analysis. Clearly outline the information you need to collect to answer your research questions effectively.</a:t>
            </a:r>
          </a:p>
          <a:p>
            <a:pPr algn="l">
              <a:buFont typeface="+mj-lt"/>
              <a:buAutoNum type="arabicPeriod"/>
            </a:pPr>
            <a:r>
              <a:rPr lang="en-US" sz="2000" b="1" i="0" dirty="0">
                <a:solidFill>
                  <a:srgbClr val="262A2E"/>
                </a:solidFill>
                <a:effectLst/>
                <a:latin typeface="Assistant" pitchFamily="2" charset="-79"/>
                <a:cs typeface="Assistant" pitchFamily="2" charset="-79"/>
              </a:rPr>
              <a:t>Consider the feasibility of data collection methods</a:t>
            </a:r>
            <a:r>
              <a:rPr lang="en-US" sz="2000" b="0" i="0" dirty="0">
                <a:solidFill>
                  <a:srgbClr val="262A2E"/>
                </a:solidFill>
                <a:effectLst/>
                <a:latin typeface="Assistant" pitchFamily="2" charset="-79"/>
                <a:cs typeface="Assistant" pitchFamily="2" charset="-79"/>
              </a:rPr>
              <a:t>: Evaluate the practicality and feasibility of various data collection methods based on your target audience and resources. Choose methods that align with your research goals and are within your capabilities.</a:t>
            </a:r>
          </a:p>
          <a:p>
            <a:endParaRPr lang="en-US" dirty="0"/>
          </a:p>
        </p:txBody>
      </p:sp>
      <p:sp>
        <p:nvSpPr>
          <p:cNvPr id="4" name="Slide Number Placeholder 3">
            <a:extLst>
              <a:ext uri="{FF2B5EF4-FFF2-40B4-BE49-F238E27FC236}">
                <a16:creationId xmlns:a16="http://schemas.microsoft.com/office/drawing/2014/main" id="{E746466F-9F24-C34E-BBA6-2CB94305520C}"/>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4</a:t>
            </a:fld>
            <a:endParaRPr lang="en-US" dirty="0"/>
          </a:p>
        </p:txBody>
      </p:sp>
    </p:spTree>
    <p:extLst>
      <p:ext uri="{BB962C8B-B14F-4D97-AF65-F5344CB8AC3E}">
        <p14:creationId xmlns:p14="http://schemas.microsoft.com/office/powerpoint/2010/main" val="3013343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443C06-A530-329A-9ECC-3E0484827D92}"/>
              </a:ext>
            </a:extLst>
          </p:cNvPr>
          <p:cNvSpPr>
            <a:spLocks noGrp="1"/>
          </p:cNvSpPr>
          <p:nvPr>
            <p:ph type="title"/>
          </p:nvPr>
        </p:nvSpPr>
        <p:spPr>
          <a:xfrm>
            <a:off x="8101584" y="1408176"/>
            <a:ext cx="3697126" cy="4014216"/>
          </a:xfrm>
        </p:spPr>
        <p:txBody>
          <a:bodyPr/>
          <a:lstStyle/>
          <a:p>
            <a:pPr algn="l"/>
            <a:r>
              <a:rPr lang="en-IN" b="1" i="0" dirty="0">
                <a:effectLst/>
                <a:latin typeface="var(--h2_typography-font-family)"/>
              </a:rPr>
              <a:t>Data Collection Ethical Considerations</a:t>
            </a:r>
          </a:p>
        </p:txBody>
      </p:sp>
      <p:sp>
        <p:nvSpPr>
          <p:cNvPr id="11" name="Content Placeholder 10">
            <a:extLst>
              <a:ext uri="{FF2B5EF4-FFF2-40B4-BE49-F238E27FC236}">
                <a16:creationId xmlns:a16="http://schemas.microsoft.com/office/drawing/2014/main" id="{B83B2F5C-D09B-2126-5784-589918E6E1A2}"/>
              </a:ext>
            </a:extLst>
          </p:cNvPr>
          <p:cNvSpPr>
            <a:spLocks noGrp="1"/>
          </p:cNvSpPr>
          <p:nvPr>
            <p:ph sz="quarter" idx="13"/>
          </p:nvPr>
        </p:nvSpPr>
        <p:spPr>
          <a:xfrm>
            <a:off x="932688" y="1173480"/>
            <a:ext cx="5276088" cy="3483864"/>
          </a:xfrm>
        </p:spPr>
        <p:txBody>
          <a:bodyPr/>
          <a:lstStyle/>
          <a:p>
            <a:pPr marL="342900" indent="-342900">
              <a:buFont typeface="Arial" panose="020B0604020202020204" pitchFamily="34" charset="0"/>
              <a:buChar char="•"/>
            </a:pPr>
            <a:r>
              <a:rPr lang="en-IN" b="1" i="0" dirty="0">
                <a:solidFill>
                  <a:srgbClr val="262A2E"/>
                </a:solidFill>
                <a:effectLst/>
                <a:latin typeface="Assistant" pitchFamily="2" charset="-79"/>
                <a:cs typeface="Assistant" pitchFamily="2" charset="-79"/>
              </a:rPr>
              <a:t>Respecting privacy and confidentiality</a:t>
            </a:r>
          </a:p>
          <a:p>
            <a:pPr marL="342900" indent="-342900">
              <a:buFont typeface="Arial" panose="020B0604020202020204" pitchFamily="34" charset="0"/>
              <a:buChar char="•"/>
            </a:pPr>
            <a:r>
              <a:rPr lang="en-US" b="1" i="0" dirty="0">
                <a:solidFill>
                  <a:srgbClr val="262A2E"/>
                </a:solidFill>
                <a:effectLst/>
                <a:latin typeface="Assistant" pitchFamily="2" charset="-79"/>
                <a:cs typeface="Assistant" pitchFamily="2" charset="-79"/>
              </a:rPr>
              <a:t>Obtaining informed consent from participants</a:t>
            </a:r>
            <a:endParaRPr lang="en-IN" b="1" dirty="0">
              <a:solidFill>
                <a:srgbClr val="262A2E"/>
              </a:solidFill>
              <a:latin typeface="Assistant" pitchFamily="2" charset="-79"/>
              <a:cs typeface="Assistant" pitchFamily="2" charset="-79"/>
            </a:endParaRPr>
          </a:p>
          <a:p>
            <a:pPr marL="342900" indent="-342900">
              <a:buFont typeface="Arial" panose="020B0604020202020204" pitchFamily="34" charset="0"/>
              <a:buChar char="•"/>
            </a:pPr>
            <a:r>
              <a:rPr lang="en-US" b="1" i="0" dirty="0">
                <a:solidFill>
                  <a:srgbClr val="262A2E"/>
                </a:solidFill>
                <a:effectLst/>
                <a:latin typeface="Assistant" pitchFamily="2" charset="-79"/>
                <a:cs typeface="Assistant" pitchFamily="2" charset="-79"/>
              </a:rPr>
              <a:t>Ensuring data anonymity and protection</a:t>
            </a:r>
            <a:endParaRPr lang="en-IN" b="1" i="0" dirty="0">
              <a:solidFill>
                <a:srgbClr val="262A2E"/>
              </a:solidFill>
              <a:effectLst/>
              <a:latin typeface="Assistant" pitchFamily="2" charset="-79"/>
              <a:cs typeface="Assistant" pitchFamily="2" charset="-79"/>
            </a:endParaRPr>
          </a:p>
          <a:p>
            <a:pPr marL="342900" indent="-342900">
              <a:buFont typeface="Arial" panose="020B0604020202020204" pitchFamily="34" charset="0"/>
              <a:buChar char="•"/>
            </a:pPr>
            <a:r>
              <a:rPr lang="en-US" b="1" i="0" dirty="0">
                <a:solidFill>
                  <a:srgbClr val="262A2E"/>
                </a:solidFill>
                <a:effectLst/>
                <a:latin typeface="Assistant" pitchFamily="2" charset="-79"/>
                <a:cs typeface="Assistant" pitchFamily="2" charset="-79"/>
              </a:rPr>
              <a:t>Compliance with legal and regulatory frameworks</a:t>
            </a:r>
            <a:endParaRPr lang="en-IN" dirty="0">
              <a:solidFill>
                <a:srgbClr val="262A2E"/>
              </a:solidFill>
              <a:latin typeface="Assistant" pitchFamily="2" charset="-79"/>
              <a:cs typeface="Assistant" pitchFamily="2" charset="-79"/>
            </a:endParaRPr>
          </a:p>
          <a:p>
            <a:endParaRPr lang="en-US" dirty="0"/>
          </a:p>
        </p:txBody>
      </p:sp>
      <p:sp>
        <p:nvSpPr>
          <p:cNvPr id="3" name="Slide Number Placeholder 2">
            <a:extLst>
              <a:ext uri="{FF2B5EF4-FFF2-40B4-BE49-F238E27FC236}">
                <a16:creationId xmlns:a16="http://schemas.microsoft.com/office/drawing/2014/main" id="{4302C321-51E3-42FB-272E-92F2DCF5A916}"/>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5</a:t>
            </a:fld>
            <a:endParaRPr lang="en-US" dirty="0"/>
          </a:p>
        </p:txBody>
      </p:sp>
    </p:spTree>
    <p:extLst>
      <p:ext uri="{BB962C8B-B14F-4D97-AF65-F5344CB8AC3E}">
        <p14:creationId xmlns:p14="http://schemas.microsoft.com/office/powerpoint/2010/main" val="512396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057FFDB-DFEC-7174-F23F-20C423A03C6A}"/>
              </a:ext>
            </a:extLst>
          </p:cNvPr>
          <p:cNvSpPr>
            <a:spLocks noGrp="1"/>
          </p:cNvSpPr>
          <p:nvPr>
            <p:ph type="title"/>
          </p:nvPr>
        </p:nvSpPr>
        <p:spPr>
          <a:xfrm>
            <a:off x="5193792" y="557784"/>
            <a:ext cx="6419088" cy="1929384"/>
          </a:xfrm>
        </p:spPr>
        <p:txBody>
          <a:bodyPr/>
          <a:lstStyle/>
          <a:p>
            <a:pPr algn="l"/>
            <a:r>
              <a:rPr lang="en-IN" b="1" i="0" dirty="0">
                <a:effectLst/>
                <a:latin typeface="var(--h2_typography-font-family)"/>
              </a:rPr>
              <a:t>Data Collection Methods</a:t>
            </a:r>
          </a:p>
        </p:txBody>
      </p:sp>
      <p:pic>
        <p:nvPicPr>
          <p:cNvPr id="8" name="Picture Placeholder 7" descr="Close up of yellow flowers">
            <a:extLst>
              <a:ext uri="{FF2B5EF4-FFF2-40B4-BE49-F238E27FC236}">
                <a16:creationId xmlns:a16="http://schemas.microsoft.com/office/drawing/2014/main" id="{A30CECCA-DB43-3EBC-1ED9-4E7CD74EE3E3}"/>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0" y="0"/>
            <a:ext cx="4434464" cy="6858000"/>
          </a:xfrm>
        </p:spPr>
      </p:pic>
      <p:sp>
        <p:nvSpPr>
          <p:cNvPr id="4" name="Content Placeholder 3">
            <a:extLst>
              <a:ext uri="{FF2B5EF4-FFF2-40B4-BE49-F238E27FC236}">
                <a16:creationId xmlns:a16="http://schemas.microsoft.com/office/drawing/2014/main" id="{D6F3EE20-53E0-0C62-809D-211B05B88043}"/>
              </a:ext>
            </a:extLst>
          </p:cNvPr>
          <p:cNvSpPr>
            <a:spLocks noGrp="1"/>
          </p:cNvSpPr>
          <p:nvPr>
            <p:ph sz="quarter" idx="12"/>
          </p:nvPr>
        </p:nvSpPr>
        <p:spPr>
          <a:xfrm>
            <a:off x="5193792" y="3328416"/>
            <a:ext cx="6419088" cy="2441448"/>
          </a:xfrm>
        </p:spPr>
        <p:txBody>
          <a:bodyPr>
            <a:normAutofit fontScale="85000" lnSpcReduction="20000"/>
          </a:bodyPr>
          <a:lstStyle/>
          <a:p>
            <a:pPr algn="l"/>
            <a:r>
              <a:rPr lang="en-US" dirty="0"/>
              <a:t>1.</a:t>
            </a:r>
            <a:r>
              <a:rPr lang="en-US" b="1" i="0" dirty="0">
                <a:effectLst/>
                <a:latin typeface="var(--h3_typography-font-family)"/>
              </a:rPr>
              <a:t> Primary Data Collection Methods</a:t>
            </a:r>
          </a:p>
          <a:p>
            <a:pPr algn="l"/>
            <a:r>
              <a:rPr lang="en-US" b="0" i="0" dirty="0">
                <a:solidFill>
                  <a:srgbClr val="262A2E"/>
                </a:solidFill>
                <a:effectLst/>
                <a:latin typeface="Assistant" pitchFamily="2" charset="-79"/>
                <a:cs typeface="Assistant" pitchFamily="2" charset="-79"/>
              </a:rPr>
              <a:t>Primary data collection involves gathering original data directly from sources</a:t>
            </a:r>
          </a:p>
          <a:p>
            <a:pPr algn="l"/>
            <a:r>
              <a:rPr lang="en-US" dirty="0"/>
              <a:t>2.</a:t>
            </a:r>
            <a:r>
              <a:rPr lang="en-US" b="1" i="0" dirty="0">
                <a:effectLst/>
                <a:latin typeface="var(--h3_typography-font-family)"/>
              </a:rPr>
              <a:t> Secondary Data Collection Methods</a:t>
            </a:r>
          </a:p>
          <a:p>
            <a:pPr algn="l"/>
            <a:r>
              <a:rPr lang="en-US" b="0" i="0" dirty="0">
                <a:solidFill>
                  <a:srgbClr val="262A2E"/>
                </a:solidFill>
                <a:effectLst/>
                <a:latin typeface="Assistant" pitchFamily="2" charset="-79"/>
                <a:cs typeface="Assistant" pitchFamily="2" charset="-79"/>
              </a:rPr>
              <a:t>Secondary data collection involves using existing data sources to answer research questions</a:t>
            </a:r>
          </a:p>
          <a:p>
            <a:endParaRPr lang="en-US" dirty="0"/>
          </a:p>
        </p:txBody>
      </p:sp>
      <p:sp>
        <p:nvSpPr>
          <p:cNvPr id="3" name="Slide Number Placeholder 2">
            <a:extLst>
              <a:ext uri="{FF2B5EF4-FFF2-40B4-BE49-F238E27FC236}">
                <a16:creationId xmlns:a16="http://schemas.microsoft.com/office/drawing/2014/main" id="{B8F090ED-AB65-F860-A6D0-5F6E60E175E5}"/>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6</a:t>
            </a:fld>
            <a:endParaRPr lang="en-US" dirty="0"/>
          </a:p>
        </p:txBody>
      </p:sp>
    </p:spTree>
    <p:extLst>
      <p:ext uri="{BB962C8B-B14F-4D97-AF65-F5344CB8AC3E}">
        <p14:creationId xmlns:p14="http://schemas.microsoft.com/office/powerpoint/2010/main" val="206942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EBFBF-F8B0-D44E-B6BF-4A0429AC3B0F}"/>
              </a:ext>
            </a:extLst>
          </p:cNvPr>
          <p:cNvSpPr>
            <a:spLocks noGrp="1"/>
          </p:cNvSpPr>
          <p:nvPr>
            <p:ph type="title"/>
          </p:nvPr>
        </p:nvSpPr>
        <p:spPr>
          <a:xfrm>
            <a:off x="932688" y="228600"/>
            <a:ext cx="9528048" cy="1600200"/>
          </a:xfrm>
        </p:spPr>
        <p:txBody>
          <a:bodyPr/>
          <a:lstStyle/>
          <a:p>
            <a:pPr algn="l"/>
            <a:r>
              <a:rPr lang="en-US" b="1" i="0" dirty="0">
                <a:effectLst/>
                <a:latin typeface="var(--h3_typography-font-family)"/>
              </a:rPr>
              <a:t>Primary Data Collection Methods</a:t>
            </a:r>
          </a:p>
        </p:txBody>
      </p:sp>
      <p:sp>
        <p:nvSpPr>
          <p:cNvPr id="4" name="Slide Number Placeholder 3">
            <a:extLst>
              <a:ext uri="{FF2B5EF4-FFF2-40B4-BE49-F238E27FC236}">
                <a16:creationId xmlns:a16="http://schemas.microsoft.com/office/drawing/2014/main" id="{4DC69194-7927-A259-0C43-EE59A460354E}"/>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7</a:t>
            </a:fld>
            <a:endParaRPr lang="en-US" dirty="0"/>
          </a:p>
        </p:txBody>
      </p:sp>
      <p:sp>
        <p:nvSpPr>
          <p:cNvPr id="8" name="Content Placeholder 7">
            <a:extLst>
              <a:ext uri="{FF2B5EF4-FFF2-40B4-BE49-F238E27FC236}">
                <a16:creationId xmlns:a16="http://schemas.microsoft.com/office/drawing/2014/main" id="{AB0720F6-38D6-B856-FBA9-F314C31C49B9}"/>
              </a:ext>
            </a:extLst>
          </p:cNvPr>
          <p:cNvSpPr>
            <a:spLocks noGrp="1"/>
          </p:cNvSpPr>
          <p:nvPr>
            <p:ph sz="quarter" idx="13"/>
          </p:nvPr>
        </p:nvSpPr>
        <p:spPr>
          <a:xfrm>
            <a:off x="481978" y="2396362"/>
            <a:ext cx="10938878" cy="3630811"/>
          </a:xfrm>
        </p:spPr>
        <p:txBody>
          <a:bodyPr>
            <a:normAutofit fontScale="92500" lnSpcReduction="20000"/>
          </a:bodyPr>
          <a:lstStyle/>
          <a:p>
            <a:pPr algn="l">
              <a:buFont typeface="+mj-lt"/>
              <a:buAutoNum type="arabicPeriod"/>
            </a:pPr>
            <a:r>
              <a:rPr lang="en-US" b="1" i="0" dirty="0">
                <a:solidFill>
                  <a:srgbClr val="262A2E"/>
                </a:solidFill>
                <a:effectLst/>
                <a:latin typeface="Assistant" pitchFamily="2" charset="-79"/>
                <a:cs typeface="Assistant" pitchFamily="2" charset="-79"/>
              </a:rPr>
              <a:t>Surveys and questionnaires</a:t>
            </a:r>
            <a:r>
              <a:rPr lang="en-US" b="0" i="0" dirty="0">
                <a:solidFill>
                  <a:srgbClr val="262A2E"/>
                </a:solidFill>
                <a:effectLst/>
                <a:latin typeface="Assistant" pitchFamily="2" charset="-79"/>
                <a:cs typeface="Assistant" pitchFamily="2" charset="-79"/>
              </a:rPr>
              <a:t>: Surveys involve posing a series of questions to participants, either through paper-based forms, online surveys, or face-to-face interviews. Questionnaires are a structured form of surveys that participants can complete independently.</a:t>
            </a:r>
          </a:p>
          <a:p>
            <a:pPr algn="l">
              <a:buFont typeface="+mj-lt"/>
              <a:buAutoNum type="arabicPeriod"/>
            </a:pPr>
            <a:r>
              <a:rPr lang="en-US" b="1" i="0" dirty="0">
                <a:solidFill>
                  <a:srgbClr val="262A2E"/>
                </a:solidFill>
                <a:effectLst/>
                <a:latin typeface="Assistant" pitchFamily="2" charset="-79"/>
                <a:cs typeface="Assistant" pitchFamily="2" charset="-79"/>
              </a:rPr>
              <a:t>Interviews</a:t>
            </a:r>
            <a:r>
              <a:rPr lang="en-US" b="0" i="0" dirty="0">
                <a:solidFill>
                  <a:srgbClr val="262A2E"/>
                </a:solidFill>
                <a:effectLst/>
                <a:latin typeface="Assistant" pitchFamily="2" charset="-79"/>
                <a:cs typeface="Assistant" pitchFamily="2" charset="-79"/>
              </a:rPr>
              <a:t>: Interviews involve direct interactions with participants to gather data. They can be structured, where a predefined set of questions is asked, or unstructured, allowing for more open-ended discussions.</a:t>
            </a:r>
          </a:p>
          <a:p>
            <a:pPr algn="l">
              <a:buFont typeface="+mj-lt"/>
              <a:buAutoNum type="arabicPeriod"/>
            </a:pPr>
            <a:r>
              <a:rPr lang="en-US" b="1" i="0" dirty="0">
                <a:solidFill>
                  <a:srgbClr val="262A2E"/>
                </a:solidFill>
                <a:effectLst/>
                <a:latin typeface="Assistant" pitchFamily="2" charset="-79"/>
                <a:cs typeface="Assistant" pitchFamily="2" charset="-79"/>
              </a:rPr>
              <a:t>Observations</a:t>
            </a:r>
            <a:r>
              <a:rPr lang="en-US" b="0" i="0" dirty="0">
                <a:solidFill>
                  <a:srgbClr val="262A2E"/>
                </a:solidFill>
                <a:effectLst/>
                <a:latin typeface="Assistant" pitchFamily="2" charset="-79"/>
                <a:cs typeface="Assistant" pitchFamily="2" charset="-79"/>
              </a:rPr>
              <a:t>: Observations involve systematically watching and recording behaviors, events, or interactions in real-time. It can be done in a participant or non-participant manner, depending on the level of involvement.</a:t>
            </a:r>
          </a:p>
          <a:p>
            <a:pPr algn="l">
              <a:buFont typeface="+mj-lt"/>
              <a:buAutoNum type="arabicPeriod"/>
            </a:pPr>
            <a:r>
              <a:rPr lang="en-US" b="1" i="0" dirty="0">
                <a:solidFill>
                  <a:srgbClr val="262A2E"/>
                </a:solidFill>
                <a:effectLst/>
                <a:latin typeface="Assistant" pitchFamily="2" charset="-79"/>
                <a:cs typeface="Assistant" pitchFamily="2" charset="-79"/>
              </a:rPr>
              <a:t>Experiments</a:t>
            </a:r>
            <a:r>
              <a:rPr lang="en-US" b="0" i="0" dirty="0">
                <a:solidFill>
                  <a:srgbClr val="262A2E"/>
                </a:solidFill>
                <a:effectLst/>
                <a:latin typeface="Assistant" pitchFamily="2" charset="-79"/>
                <a:cs typeface="Assistant" pitchFamily="2" charset="-79"/>
              </a:rPr>
              <a:t>: Experiments are controlled procedures used to study cause-and-effect relationships. Researchers manipulate independent variables and observe the impact on dependent variables.</a:t>
            </a:r>
          </a:p>
          <a:p>
            <a:endParaRPr lang="en-IN" dirty="0"/>
          </a:p>
        </p:txBody>
      </p:sp>
    </p:spTree>
    <p:extLst>
      <p:ext uri="{BB962C8B-B14F-4D97-AF65-F5344CB8AC3E}">
        <p14:creationId xmlns:p14="http://schemas.microsoft.com/office/powerpoint/2010/main" val="898190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EBFBF-F8B0-D44E-B6BF-4A0429AC3B0F}"/>
              </a:ext>
            </a:extLst>
          </p:cNvPr>
          <p:cNvSpPr>
            <a:spLocks noGrp="1"/>
          </p:cNvSpPr>
          <p:nvPr>
            <p:ph type="title"/>
          </p:nvPr>
        </p:nvSpPr>
        <p:spPr>
          <a:xfrm>
            <a:off x="932688" y="228600"/>
            <a:ext cx="9528048" cy="1600200"/>
          </a:xfrm>
        </p:spPr>
        <p:txBody>
          <a:bodyPr/>
          <a:lstStyle/>
          <a:p>
            <a:pPr algn="l"/>
            <a:r>
              <a:rPr lang="en-US" b="1" i="0" dirty="0">
                <a:effectLst/>
                <a:latin typeface="var(--h3_typography-font-family)"/>
              </a:rPr>
              <a:t>Secondary Data Collection Methods</a:t>
            </a:r>
          </a:p>
        </p:txBody>
      </p:sp>
      <p:sp>
        <p:nvSpPr>
          <p:cNvPr id="4" name="Slide Number Placeholder 3">
            <a:extLst>
              <a:ext uri="{FF2B5EF4-FFF2-40B4-BE49-F238E27FC236}">
                <a16:creationId xmlns:a16="http://schemas.microsoft.com/office/drawing/2014/main" id="{4DC69194-7927-A259-0C43-EE59A460354E}"/>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8</a:t>
            </a:fld>
            <a:endParaRPr lang="en-US" dirty="0"/>
          </a:p>
        </p:txBody>
      </p:sp>
      <p:sp>
        <p:nvSpPr>
          <p:cNvPr id="8" name="Content Placeholder 7">
            <a:extLst>
              <a:ext uri="{FF2B5EF4-FFF2-40B4-BE49-F238E27FC236}">
                <a16:creationId xmlns:a16="http://schemas.microsoft.com/office/drawing/2014/main" id="{AB0720F6-38D6-B856-FBA9-F314C31C49B9}"/>
              </a:ext>
            </a:extLst>
          </p:cNvPr>
          <p:cNvSpPr>
            <a:spLocks noGrp="1"/>
          </p:cNvSpPr>
          <p:nvPr>
            <p:ph sz="quarter" idx="13"/>
          </p:nvPr>
        </p:nvSpPr>
        <p:spPr>
          <a:xfrm>
            <a:off x="481978" y="2396362"/>
            <a:ext cx="10938878" cy="3630811"/>
          </a:xfrm>
        </p:spPr>
        <p:txBody>
          <a:bodyPr>
            <a:normAutofit lnSpcReduction="10000"/>
          </a:bodyPr>
          <a:lstStyle/>
          <a:p>
            <a:pPr algn="l">
              <a:buFont typeface="+mj-lt"/>
              <a:buAutoNum type="arabicPeriod"/>
            </a:pPr>
            <a:r>
              <a:rPr lang="en-US" b="1" i="0" dirty="0">
                <a:solidFill>
                  <a:srgbClr val="262A2E"/>
                </a:solidFill>
                <a:effectLst/>
                <a:latin typeface="Assistant" pitchFamily="2" charset="-79"/>
                <a:cs typeface="Assistant" pitchFamily="2" charset="-79"/>
              </a:rPr>
              <a:t>Literature review and meta-analysis</a:t>
            </a:r>
            <a:r>
              <a:rPr lang="en-US" b="0" i="0" dirty="0">
                <a:solidFill>
                  <a:srgbClr val="262A2E"/>
                </a:solidFill>
                <a:effectLst/>
                <a:latin typeface="Assistant" pitchFamily="2" charset="-79"/>
                <a:cs typeface="Assistant" pitchFamily="2" charset="-79"/>
              </a:rPr>
              <a:t>: Reviewing existing literature and conducting a meta-analysis involves analyzing and synthesizing findings from previous studies. This method helps identify gaps, trends, and patterns in existing knowledge.</a:t>
            </a:r>
          </a:p>
          <a:p>
            <a:pPr algn="l">
              <a:buFont typeface="+mj-lt"/>
              <a:buAutoNum type="arabicPeriod"/>
            </a:pPr>
            <a:r>
              <a:rPr lang="en-US" b="1" i="0" dirty="0">
                <a:solidFill>
                  <a:srgbClr val="262A2E"/>
                </a:solidFill>
                <a:effectLst/>
                <a:latin typeface="Assistant" pitchFamily="2" charset="-79"/>
                <a:cs typeface="Assistant" pitchFamily="2" charset="-79"/>
              </a:rPr>
              <a:t>Existing databases and repositories</a:t>
            </a:r>
            <a:r>
              <a:rPr lang="en-US" b="0" i="0" dirty="0">
                <a:solidFill>
                  <a:srgbClr val="262A2E"/>
                </a:solidFill>
                <a:effectLst/>
                <a:latin typeface="Assistant" pitchFamily="2" charset="-79"/>
                <a:cs typeface="Assistant" pitchFamily="2" charset="-79"/>
              </a:rPr>
              <a:t>: Numerous databases and repositories provide publicly available datasets, such as government databases, research archives, or industry-specific sources. These sources can provide valuable data for analysis.</a:t>
            </a:r>
          </a:p>
          <a:p>
            <a:pPr algn="l">
              <a:buFont typeface="+mj-lt"/>
              <a:buAutoNum type="arabicPeriod"/>
            </a:pPr>
            <a:r>
              <a:rPr lang="en-US" b="1" i="0" dirty="0">
                <a:solidFill>
                  <a:srgbClr val="262A2E"/>
                </a:solidFill>
                <a:effectLst/>
                <a:latin typeface="Assistant" pitchFamily="2" charset="-79"/>
                <a:cs typeface="Assistant" pitchFamily="2" charset="-79"/>
              </a:rPr>
              <a:t>Web scraping and data extraction</a:t>
            </a:r>
            <a:r>
              <a:rPr lang="en-US" b="0" i="0" dirty="0">
                <a:solidFill>
                  <a:srgbClr val="262A2E"/>
                </a:solidFill>
                <a:effectLst/>
                <a:latin typeface="Assistant" pitchFamily="2" charset="-79"/>
                <a:cs typeface="Assistant" pitchFamily="2" charset="-79"/>
              </a:rPr>
              <a:t>: Web scraping involves automatically extracting data from websites or online sources. It allows researchers to collect large amounts of data from various online platforms for analysis.</a:t>
            </a:r>
          </a:p>
          <a:p>
            <a:endParaRPr lang="en-IN" dirty="0"/>
          </a:p>
        </p:txBody>
      </p:sp>
    </p:spTree>
    <p:extLst>
      <p:ext uri="{BB962C8B-B14F-4D97-AF65-F5344CB8AC3E}">
        <p14:creationId xmlns:p14="http://schemas.microsoft.com/office/powerpoint/2010/main" val="1208645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246B-8AB7-A0C9-C6DD-5D9F49D5BC37}"/>
              </a:ext>
            </a:extLst>
          </p:cNvPr>
          <p:cNvSpPr>
            <a:spLocks noGrp="1"/>
          </p:cNvSpPr>
          <p:nvPr>
            <p:ph type="title"/>
          </p:nvPr>
        </p:nvSpPr>
        <p:spPr>
          <a:xfrm>
            <a:off x="932688" y="228600"/>
            <a:ext cx="9528048" cy="1600200"/>
          </a:xfrm>
        </p:spPr>
        <p:txBody>
          <a:bodyPr/>
          <a:lstStyle/>
          <a:p>
            <a:pPr algn="l"/>
            <a:r>
              <a:rPr lang="en-IN" b="1" i="0" dirty="0">
                <a:effectLst/>
                <a:latin typeface="var(--h2_typography-font-family)"/>
              </a:rPr>
              <a:t>Types of Data</a:t>
            </a:r>
          </a:p>
        </p:txBody>
      </p:sp>
      <p:sp>
        <p:nvSpPr>
          <p:cNvPr id="5" name="Content Placeholder 4">
            <a:extLst>
              <a:ext uri="{FF2B5EF4-FFF2-40B4-BE49-F238E27FC236}">
                <a16:creationId xmlns:a16="http://schemas.microsoft.com/office/drawing/2014/main" id="{B20DCAFD-6C4D-D08A-CF94-0DA099CE4B5A}"/>
              </a:ext>
            </a:extLst>
          </p:cNvPr>
          <p:cNvSpPr>
            <a:spLocks noGrp="1"/>
          </p:cNvSpPr>
          <p:nvPr>
            <p:ph sz="quarter" idx="12"/>
          </p:nvPr>
        </p:nvSpPr>
        <p:spPr>
          <a:xfrm>
            <a:off x="134034" y="2222626"/>
            <a:ext cx="11544821" cy="4406773"/>
          </a:xfrm>
        </p:spPr>
        <p:txBody>
          <a:bodyPr>
            <a:normAutofit/>
          </a:bodyPr>
          <a:lstStyle/>
          <a:p>
            <a:pPr algn="l">
              <a:buFont typeface="+mj-lt"/>
              <a:buAutoNum type="arabicPeriod"/>
            </a:pPr>
            <a:r>
              <a:rPr lang="en-US" sz="2000" b="1" i="0" dirty="0">
                <a:solidFill>
                  <a:srgbClr val="262A2E"/>
                </a:solidFill>
                <a:effectLst/>
                <a:latin typeface="Assistant" pitchFamily="2" charset="-79"/>
                <a:cs typeface="Assistant" pitchFamily="2" charset="-79"/>
              </a:rPr>
              <a:t>Quantitative data</a:t>
            </a:r>
            <a:r>
              <a:rPr lang="en-US" sz="2000" b="0" i="0" dirty="0">
                <a:solidFill>
                  <a:srgbClr val="262A2E"/>
                </a:solidFill>
                <a:effectLst/>
                <a:latin typeface="Assistant" pitchFamily="2" charset="-79"/>
                <a:cs typeface="Assistant" pitchFamily="2" charset="-79"/>
              </a:rPr>
              <a:t>: Quantitative data is numerical and can be measured and analyzed using statistical methods. It is used to answer questions about “how much” or “how many” and can be further classified into discrete and continuous data.</a:t>
            </a:r>
          </a:p>
          <a:p>
            <a:pPr marL="742950" lvl="1" indent="-285750" algn="l">
              <a:buFont typeface="+mj-lt"/>
              <a:buAutoNum type="arabicPeriod"/>
            </a:pPr>
            <a:r>
              <a:rPr lang="en-US" sz="2000" b="0" i="0" dirty="0">
                <a:solidFill>
                  <a:srgbClr val="262A2E"/>
                </a:solidFill>
                <a:effectLst/>
                <a:latin typeface="Assistant" pitchFamily="2" charset="-79"/>
                <a:cs typeface="Assistant" pitchFamily="2" charset="-79"/>
              </a:rPr>
              <a:t>Discrete data: Consists of distinct values and cannot be subdivided further. Examples include the number of items sold, customer ratings on a scale, or the count of occurrences.</a:t>
            </a:r>
          </a:p>
          <a:p>
            <a:pPr marL="742950" lvl="1" indent="-285750" algn="l">
              <a:buFont typeface="+mj-lt"/>
              <a:buAutoNum type="arabicPeriod"/>
            </a:pPr>
            <a:r>
              <a:rPr lang="en-US" sz="2000" b="0" i="0" dirty="0">
                <a:solidFill>
                  <a:srgbClr val="262A2E"/>
                </a:solidFill>
                <a:effectLst/>
                <a:latin typeface="Assistant" pitchFamily="2" charset="-79"/>
                <a:cs typeface="Assistant" pitchFamily="2" charset="-79"/>
              </a:rPr>
              <a:t>Continuous data: Represents measurements that can take any value within a specific range. Examples include weight, height, or time.</a:t>
            </a:r>
          </a:p>
          <a:p>
            <a:pPr algn="l">
              <a:buFont typeface="+mj-lt"/>
              <a:buAutoNum type="arabicPeriod"/>
            </a:pPr>
            <a:r>
              <a:rPr lang="en-US" sz="2000" b="1" i="0" dirty="0">
                <a:solidFill>
                  <a:srgbClr val="262A2E"/>
                </a:solidFill>
                <a:effectLst/>
                <a:latin typeface="Assistant" pitchFamily="2" charset="-79"/>
                <a:cs typeface="Assistant" pitchFamily="2" charset="-79"/>
              </a:rPr>
              <a:t>Qualitative data</a:t>
            </a:r>
            <a:r>
              <a:rPr lang="en-US" sz="2000" b="0" i="0" dirty="0">
                <a:solidFill>
                  <a:srgbClr val="262A2E"/>
                </a:solidFill>
                <a:effectLst/>
                <a:latin typeface="Assistant" pitchFamily="2" charset="-79"/>
                <a:cs typeface="Assistant" pitchFamily="2" charset="-79"/>
              </a:rPr>
              <a:t>: Qualitative data is </a:t>
            </a:r>
            <a:r>
              <a:rPr lang="en-US" sz="2000" b="0" i="0" dirty="0">
                <a:solidFill>
                  <a:schemeClr val="tx1"/>
                </a:solidFill>
                <a:effectLst/>
                <a:latin typeface="Assistant" pitchFamily="2" charset="-79"/>
                <a:cs typeface="Assistant" pitchFamily="2" charset="-79"/>
              </a:rPr>
              <a:t>non-commercial </a:t>
            </a:r>
            <a:r>
              <a:rPr lang="en-US" sz="2000" b="0" i="0" dirty="0">
                <a:solidFill>
                  <a:srgbClr val="262A2E"/>
                </a:solidFill>
                <a:effectLst/>
                <a:latin typeface="Assistant" pitchFamily="2" charset="-79"/>
                <a:cs typeface="Assistant" pitchFamily="2" charset="-79"/>
              </a:rPr>
              <a:t>and captures descriptive information, opinions, attitudes, or behaviors. It is used to answer questions about “why” and “how.” Qualitative data can be obtained through interviews, observations, or open-ended survey questions.</a:t>
            </a:r>
          </a:p>
          <a:p>
            <a:pPr algn="l">
              <a:buFont typeface="+mj-lt"/>
              <a:buAutoNum type="arabicPeriod"/>
            </a:pPr>
            <a:r>
              <a:rPr lang="en-US" sz="2000" b="1" i="0" dirty="0">
                <a:solidFill>
                  <a:srgbClr val="262A2E"/>
                </a:solidFill>
                <a:effectLst/>
                <a:latin typeface="Assistant" pitchFamily="2" charset="-79"/>
                <a:cs typeface="Assistant" pitchFamily="2" charset="-79"/>
              </a:rPr>
              <a:t>Mixed methods data</a:t>
            </a:r>
            <a:r>
              <a:rPr lang="en-US" sz="2000" b="0" i="0" dirty="0">
                <a:solidFill>
                  <a:srgbClr val="262A2E"/>
                </a:solidFill>
                <a:effectLst/>
                <a:latin typeface="Assistant" pitchFamily="2" charset="-79"/>
                <a:cs typeface="Assistant" pitchFamily="2" charset="-79"/>
              </a:rPr>
              <a:t>: Mixed methods involve using both quantitative and qualitative data in a single study. This approach allows for a comprehensive understanding of the research topic by combining numerical data with rich contextual information.</a:t>
            </a:r>
          </a:p>
        </p:txBody>
      </p:sp>
      <p:sp>
        <p:nvSpPr>
          <p:cNvPr id="4" name="Slide Number Placeholder 3">
            <a:extLst>
              <a:ext uri="{FF2B5EF4-FFF2-40B4-BE49-F238E27FC236}">
                <a16:creationId xmlns:a16="http://schemas.microsoft.com/office/drawing/2014/main" id="{19451A59-0D86-B758-5926-53062622A5E7}"/>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9</a:t>
            </a:fld>
            <a:endParaRPr lang="en-US" dirty="0"/>
          </a:p>
        </p:txBody>
      </p:sp>
    </p:spTree>
    <p:extLst>
      <p:ext uri="{BB962C8B-B14F-4D97-AF65-F5344CB8AC3E}">
        <p14:creationId xmlns:p14="http://schemas.microsoft.com/office/powerpoint/2010/main" val="1117481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E0DBD-0B2D-6832-A30D-1A7031851988}"/>
              </a:ext>
            </a:extLst>
          </p:cNvPr>
          <p:cNvSpPr>
            <a:spLocks noGrp="1"/>
          </p:cNvSpPr>
          <p:nvPr>
            <p:ph type="title"/>
          </p:nvPr>
        </p:nvSpPr>
        <p:spPr/>
        <p:txBody>
          <a:bodyPr/>
          <a:lstStyle/>
          <a:p>
            <a:pPr algn="l"/>
            <a:r>
              <a:rPr lang="en-IN" b="1" i="0" dirty="0">
                <a:effectLst/>
                <a:latin typeface="var(--h2_typography-font-family)"/>
              </a:rPr>
              <a:t>Data Collection Techniques</a:t>
            </a:r>
          </a:p>
        </p:txBody>
      </p:sp>
      <p:sp>
        <p:nvSpPr>
          <p:cNvPr id="4" name="Slide Number Placeholder 3">
            <a:extLst>
              <a:ext uri="{FF2B5EF4-FFF2-40B4-BE49-F238E27FC236}">
                <a16:creationId xmlns:a16="http://schemas.microsoft.com/office/drawing/2014/main" id="{E5F5138A-B125-D716-1DF1-A12D0FBDFA08}"/>
              </a:ext>
            </a:extLst>
          </p:cNvPr>
          <p:cNvSpPr>
            <a:spLocks noGrp="1"/>
          </p:cNvSpPr>
          <p:nvPr>
            <p:ph type="sldNum" sz="quarter" idx="11"/>
          </p:nvPr>
        </p:nvSpPr>
        <p:spPr/>
        <p:txBody>
          <a:bodyPr/>
          <a:lstStyle/>
          <a:p>
            <a:fld id="{294A09A9-5501-47C1-A89A-A340965A2BE2}" type="slidenum">
              <a:rPr lang="en-US" smtClean="0"/>
              <a:pPr/>
              <a:t>10</a:t>
            </a:fld>
            <a:endParaRPr lang="en-US" dirty="0"/>
          </a:p>
        </p:txBody>
      </p:sp>
      <p:sp>
        <p:nvSpPr>
          <p:cNvPr id="7" name="Content Placeholder 6">
            <a:extLst>
              <a:ext uri="{FF2B5EF4-FFF2-40B4-BE49-F238E27FC236}">
                <a16:creationId xmlns:a16="http://schemas.microsoft.com/office/drawing/2014/main" id="{05B558D1-C1DF-10C3-50A9-84ED0F340259}"/>
              </a:ext>
            </a:extLst>
          </p:cNvPr>
          <p:cNvSpPr>
            <a:spLocks noGrp="1"/>
          </p:cNvSpPr>
          <p:nvPr>
            <p:ph sz="quarter" idx="13"/>
          </p:nvPr>
        </p:nvSpPr>
        <p:spPr>
          <a:xfrm>
            <a:off x="737076" y="2261346"/>
            <a:ext cx="10515600" cy="4095004"/>
          </a:xfrm>
        </p:spPr>
        <p:txBody>
          <a:bodyPr>
            <a:normAutofit/>
          </a:bodyPr>
          <a:lstStyle/>
          <a:p>
            <a:pPr algn="l">
              <a:buFont typeface="+mj-lt"/>
              <a:buAutoNum type="arabicPeriod"/>
            </a:pPr>
            <a:r>
              <a:rPr lang="en-US" sz="2000" b="1" i="0" dirty="0">
                <a:solidFill>
                  <a:srgbClr val="262A2E"/>
                </a:solidFill>
                <a:effectLst/>
                <a:latin typeface="Assistant" pitchFamily="2" charset="-79"/>
                <a:cs typeface="Assistant" pitchFamily="2" charset="-79"/>
              </a:rPr>
              <a:t>Random sampling</a:t>
            </a:r>
            <a:r>
              <a:rPr lang="en-US" sz="2000" b="0" i="0" dirty="0">
                <a:solidFill>
                  <a:srgbClr val="262A2E"/>
                </a:solidFill>
                <a:effectLst/>
                <a:latin typeface="Assistant" pitchFamily="2" charset="-79"/>
                <a:cs typeface="Assistant" pitchFamily="2" charset="-79"/>
              </a:rPr>
              <a:t>: Random sampling involves selecting participants or sampling units randomly from the target population</a:t>
            </a:r>
          </a:p>
          <a:p>
            <a:pPr algn="l">
              <a:buFont typeface="+mj-lt"/>
              <a:buAutoNum type="arabicPeriod"/>
            </a:pPr>
            <a:r>
              <a:rPr lang="en-US" sz="2000" b="1" i="0" dirty="0">
                <a:solidFill>
                  <a:srgbClr val="262A2E"/>
                </a:solidFill>
                <a:effectLst/>
                <a:latin typeface="Assistant" pitchFamily="2" charset="-79"/>
                <a:cs typeface="Assistant" pitchFamily="2" charset="-79"/>
              </a:rPr>
              <a:t>Quota sampling</a:t>
            </a:r>
            <a:r>
              <a:rPr lang="en-US" sz="2000" b="0" i="0" dirty="0">
                <a:solidFill>
                  <a:srgbClr val="262A2E"/>
                </a:solidFill>
                <a:effectLst/>
                <a:latin typeface="Assistant" pitchFamily="2" charset="-79"/>
                <a:cs typeface="Assistant" pitchFamily="2" charset="-79"/>
              </a:rPr>
              <a:t>: Quota sampling involves selecting participants based on pre-defined quotas for certain characteristics or demographics. </a:t>
            </a:r>
          </a:p>
          <a:p>
            <a:pPr algn="l">
              <a:buFont typeface="+mj-lt"/>
              <a:buAutoNum type="arabicPeriod"/>
            </a:pPr>
            <a:r>
              <a:rPr lang="en-US" sz="2000" b="1" i="0" dirty="0">
                <a:solidFill>
                  <a:srgbClr val="262A2E"/>
                </a:solidFill>
                <a:effectLst/>
                <a:latin typeface="Assistant" pitchFamily="2" charset="-79"/>
                <a:cs typeface="Assistant" pitchFamily="2" charset="-79"/>
              </a:rPr>
              <a:t>Convenience sampling</a:t>
            </a:r>
            <a:r>
              <a:rPr lang="en-US" sz="2000" b="0" i="0" dirty="0">
                <a:solidFill>
                  <a:srgbClr val="262A2E"/>
                </a:solidFill>
                <a:effectLst/>
                <a:latin typeface="Assistant" pitchFamily="2" charset="-79"/>
                <a:cs typeface="Assistant" pitchFamily="2" charset="-79"/>
              </a:rPr>
              <a:t>: selecting participants based on their accessibility and convenience. While it is quick and easy to implement, convenience sampling may introduce selection bias and may not represent the entire population.</a:t>
            </a:r>
          </a:p>
          <a:p>
            <a:pPr algn="l">
              <a:buFont typeface="+mj-lt"/>
              <a:buAutoNum type="arabicPeriod"/>
            </a:pPr>
            <a:r>
              <a:rPr lang="en-US" sz="2000" b="1" i="0" dirty="0">
                <a:solidFill>
                  <a:srgbClr val="262A2E"/>
                </a:solidFill>
                <a:effectLst/>
                <a:latin typeface="Assistant" pitchFamily="2" charset="-79"/>
                <a:cs typeface="Assistant" pitchFamily="2" charset="-79"/>
              </a:rPr>
              <a:t>Snowball sampling</a:t>
            </a:r>
            <a:r>
              <a:rPr lang="en-US" sz="2000" b="0" i="0" dirty="0">
                <a:solidFill>
                  <a:srgbClr val="262A2E"/>
                </a:solidFill>
                <a:effectLst/>
                <a:latin typeface="Assistant" pitchFamily="2" charset="-79"/>
                <a:cs typeface="Assistant" pitchFamily="2" charset="-79"/>
              </a:rPr>
              <a:t>: It is useful when the target population is hard to reach or when the population size is unknown.</a:t>
            </a:r>
          </a:p>
          <a:p>
            <a:pPr algn="l">
              <a:buFont typeface="+mj-lt"/>
              <a:buAutoNum type="arabicPeriod"/>
            </a:pPr>
            <a:r>
              <a:rPr lang="en-US" sz="2000" b="1" i="0" dirty="0">
                <a:solidFill>
                  <a:srgbClr val="262A2E"/>
                </a:solidFill>
                <a:effectLst/>
                <a:latin typeface="Assistant" pitchFamily="2" charset="-79"/>
                <a:cs typeface="Assistant" pitchFamily="2" charset="-79"/>
              </a:rPr>
              <a:t>Purposive sampling</a:t>
            </a:r>
            <a:r>
              <a:rPr lang="en-US" sz="2000" b="0" i="0" dirty="0">
                <a:solidFill>
                  <a:srgbClr val="262A2E"/>
                </a:solidFill>
                <a:effectLst/>
                <a:latin typeface="Assistant" pitchFamily="2" charset="-79"/>
                <a:cs typeface="Assistant" pitchFamily="2" charset="-79"/>
              </a:rPr>
              <a:t>:. Researchers use their judgment to choose participants who possess the desired characteristics or experiences.</a:t>
            </a:r>
          </a:p>
          <a:p>
            <a:endParaRPr lang="en-IN" dirty="0"/>
          </a:p>
        </p:txBody>
      </p:sp>
    </p:spTree>
    <p:extLst>
      <p:ext uri="{BB962C8B-B14F-4D97-AF65-F5344CB8AC3E}">
        <p14:creationId xmlns:p14="http://schemas.microsoft.com/office/powerpoint/2010/main" val="3316775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bouquet of flowers">
            <a:extLst>
              <a:ext uri="{FF2B5EF4-FFF2-40B4-BE49-F238E27FC236}">
                <a16:creationId xmlns:a16="http://schemas.microsoft.com/office/drawing/2014/main" id="{8AB2ECDC-2C97-9031-6EF9-11EF690976ED}"/>
              </a:ext>
            </a:extLst>
          </p:cNvPr>
          <p:cNvPicPr>
            <a:picLocks noGrp="1" noChangeAspect="1"/>
          </p:cNvPicPr>
          <p:nvPr>
            <p:ph type="pic" sz="quarter" idx="10"/>
          </p:nvPr>
        </p:nvPicPr>
        <p:blipFill>
          <a:blip r:embed="rId2"/>
          <a:srcRect/>
          <a:stretch/>
        </p:blipFill>
        <p:spPr>
          <a:xfrm>
            <a:off x="0" y="-23150"/>
            <a:ext cx="12192000" cy="6858000"/>
          </a:xfrm>
        </p:spPr>
      </p:pic>
      <p:sp>
        <p:nvSpPr>
          <p:cNvPr id="3" name="Title 2">
            <a:extLst>
              <a:ext uri="{FF2B5EF4-FFF2-40B4-BE49-F238E27FC236}">
                <a16:creationId xmlns:a16="http://schemas.microsoft.com/office/drawing/2014/main" id="{1697D649-277C-A20F-F588-7EA2B85B1299}"/>
              </a:ext>
            </a:extLst>
          </p:cNvPr>
          <p:cNvSpPr>
            <a:spLocks noGrp="1"/>
          </p:cNvSpPr>
          <p:nvPr>
            <p:ph type="ctrTitle"/>
          </p:nvPr>
        </p:nvSpPr>
        <p:spPr>
          <a:xfrm>
            <a:off x="1627632" y="822960"/>
            <a:ext cx="6327648" cy="2221992"/>
          </a:xfrm>
        </p:spPr>
        <p:txBody>
          <a:bodyPr/>
          <a:lstStyle/>
          <a:p>
            <a:r>
              <a:rPr lang="en-US" dirty="0"/>
              <a:t>Thank you</a:t>
            </a:r>
          </a:p>
        </p:txBody>
      </p:sp>
      <p:sp>
        <p:nvSpPr>
          <p:cNvPr id="15" name="Subtitle 14">
            <a:extLst>
              <a:ext uri="{FF2B5EF4-FFF2-40B4-BE49-F238E27FC236}">
                <a16:creationId xmlns:a16="http://schemas.microsoft.com/office/drawing/2014/main" id="{6EF8E06F-4153-981B-474D-3D483B6F4F84}"/>
              </a:ext>
            </a:extLst>
          </p:cNvPr>
          <p:cNvSpPr>
            <a:spLocks noGrp="1"/>
          </p:cNvSpPr>
          <p:nvPr>
            <p:ph type="subTitle" idx="1"/>
          </p:nvPr>
        </p:nvSpPr>
        <p:spPr>
          <a:xfrm>
            <a:off x="1627632" y="3428999"/>
            <a:ext cx="6309360" cy="1703439"/>
          </a:xfrm>
        </p:spPr>
        <p:txBody>
          <a:bodyPr>
            <a:normAutofit/>
          </a:bodyPr>
          <a:lstStyle/>
          <a:p>
            <a:r>
              <a:rPr lang="en-US" dirty="0"/>
              <a:t>Madhuri </a:t>
            </a:r>
            <a:r>
              <a:rPr lang="en-US" dirty="0" err="1"/>
              <a:t>rao</a:t>
            </a:r>
            <a:endParaRPr lang="en-US" dirty="0"/>
          </a:p>
          <a:p>
            <a:r>
              <a:rPr lang="en-US" dirty="0" err="1"/>
              <a:t>edifybymadhurirao</a:t>
            </a:r>
            <a:endParaRPr lang="en-US" dirty="0"/>
          </a:p>
        </p:txBody>
      </p:sp>
      <p:cxnSp>
        <p:nvCxnSpPr>
          <p:cNvPr id="25" name="Straight Connector 24">
            <a:extLst>
              <a:ext uri="{FF2B5EF4-FFF2-40B4-BE49-F238E27FC236}">
                <a16:creationId xmlns:a16="http://schemas.microsoft.com/office/drawing/2014/main" id="{DE502E84-5063-F43E-AC45-9F5CEAA69246}"/>
              </a:ext>
              <a:ext uri="{C183D7F6-B498-43B3-948B-1728B52AA6E4}">
                <adec:decorative xmlns:adec="http://schemas.microsoft.com/office/drawing/2017/decorative" val="1"/>
              </a:ext>
            </a:extLst>
          </p:cNvPr>
          <p:cNvCxnSpPr>
            <a:cxnSpLocks/>
          </p:cNvCxnSpPr>
          <p:nvPr/>
        </p:nvCxnSpPr>
        <p:spPr>
          <a:xfrm>
            <a:off x="1701285" y="3209689"/>
            <a:ext cx="362454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DE43C393-A639-F47D-D8A8-BAF189C58382}"/>
              </a:ext>
              <a:ext uri="{C183D7F6-B498-43B3-948B-1728B52AA6E4}">
                <adec:decorative xmlns:adec="http://schemas.microsoft.com/office/drawing/2017/decorative" val="1"/>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35000"/>
                    </a14:imgEffect>
                  </a14:imgLayer>
                </a14:imgProps>
              </a:ext>
              <a:ext uri="{28A0092B-C50C-407E-A947-70E740481C1C}">
                <a14:useLocalDpi xmlns:a14="http://schemas.microsoft.com/office/drawing/2010/main"/>
              </a:ext>
            </a:extLst>
          </a:blip>
          <a:stretch>
            <a:fillRect/>
          </a:stretch>
        </p:blipFill>
        <p:spPr>
          <a:xfrm>
            <a:off x="4839787" y="3066998"/>
            <a:ext cx="972078" cy="285381"/>
          </a:xfrm>
          <a:prstGeom prst="rect">
            <a:avLst/>
          </a:prstGeom>
        </p:spPr>
      </p:pic>
    </p:spTree>
    <p:extLst>
      <p:ext uri="{BB962C8B-B14F-4D97-AF65-F5344CB8AC3E}">
        <p14:creationId xmlns:p14="http://schemas.microsoft.com/office/powerpoint/2010/main" val="438040838"/>
      </p:ext>
    </p:extLst>
  </p:cSld>
  <p:clrMapOvr>
    <a:masterClrMapping/>
  </p:clrMapOvr>
</p:sld>
</file>

<file path=ppt/theme/theme1.xml><?xml version="1.0" encoding="utf-8"?>
<a:theme xmlns:a="http://schemas.openxmlformats.org/drawingml/2006/main" name="Custom">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lourish_win32_CP_v3" id="{3BF332BF-22B8-49D8-950E-E9BBBBF59833}" vid="{E4E7F1DC-3AF4-489F-A450-0CED11A8EB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915FD3-F777-4046-A12C-BE3860E324BC}">
  <ds:schemaRefs>
    <ds:schemaRef ds:uri="http://schemas.microsoft.com/sharepoint/v3/contenttype/forms"/>
  </ds:schemaRefs>
</ds:datastoreItem>
</file>

<file path=customXml/itemProps2.xml><?xml version="1.0" encoding="utf-8"?>
<ds:datastoreItem xmlns:ds="http://schemas.openxmlformats.org/officeDocument/2006/customXml" ds:itemID="{71E6BC5B-F32E-483D-A6CB-100D6BCB78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384BFC8-02DA-464F-AE97-4951BE47415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{AB3ACF48-6474-4FCC-9962-D86D61844310}tf56410444_win32</Template>
  <TotalTime>134</TotalTime>
  <Words>832</Words>
  <Application>Microsoft Office PowerPoint</Application>
  <PresentationFormat>Widescreen</PresentationFormat>
  <Paragraphs>58</Paragraphs>
  <Slides>11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Assistant</vt:lpstr>
      <vt:lpstr>Baskerville Old Face</vt:lpstr>
      <vt:lpstr>Calibri</vt:lpstr>
      <vt:lpstr>Gill Sans Nova Light</vt:lpstr>
      <vt:lpstr>var(--h2_typography-font-family)</vt:lpstr>
      <vt:lpstr>var(--h3_typography-font-family)</vt:lpstr>
      <vt:lpstr>Custom</vt:lpstr>
      <vt:lpstr>DATA COLLECTION AND MARKET SURVEY</vt:lpstr>
      <vt:lpstr>DATA COLLECTION</vt:lpstr>
      <vt:lpstr>Data Collection Important?</vt:lpstr>
      <vt:lpstr>Identifying the Target Audience and Data Requirements</vt:lpstr>
      <vt:lpstr>Data Collection Ethical Considerations</vt:lpstr>
      <vt:lpstr>Data Collection Methods</vt:lpstr>
      <vt:lpstr>Primary Data Collection Methods</vt:lpstr>
      <vt:lpstr>Secondary Data Collection Methods</vt:lpstr>
      <vt:lpstr>Types of Data</vt:lpstr>
      <vt:lpstr>Data Collection Techniques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 RAO</dc:creator>
  <cp:lastModifiedBy>Nandita Nair</cp:lastModifiedBy>
  <cp:revision>17</cp:revision>
  <dcterms:created xsi:type="dcterms:W3CDTF">2024-09-27T18:57:41Z</dcterms:created>
  <dcterms:modified xsi:type="dcterms:W3CDTF">2025-12-02T11:55:50Z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